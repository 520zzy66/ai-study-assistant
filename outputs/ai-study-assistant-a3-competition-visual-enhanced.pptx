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88330c43a94400" /><Relationship Type="http://schemas.openxmlformats.org/officeDocument/2006/relationships/extended-properties" Target="/docProps/app.xml" Id="R2dbbda006b514caa" /><Relationship Type="http://schemas.openxmlformats.org/officeDocument/2006/relationships/officeDocument" Target="/ppt/presentation.xml" Id="Ra218fddce06742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e5ad350ab24a95"/>
  </p:sldMasterIdLst>
  <p:notesMasterIdLst>
    <p:notesMasterId xmlns:r="http://schemas.openxmlformats.org/officeDocument/2006/relationships" r:id="R349479c33528429a"/>
  </p:notesMasterIdLst>
  <p:sldIdLst>
    <p:sldId xmlns:r="http://schemas.openxmlformats.org/officeDocument/2006/relationships" id="256" r:id="Rc789193ff4f84d56"/>
    <p:sldId xmlns:r="http://schemas.openxmlformats.org/officeDocument/2006/relationships" id="257" r:id="Ra1c50d3452ad4e98"/>
    <p:sldId xmlns:r="http://schemas.openxmlformats.org/officeDocument/2006/relationships" id="258" r:id="R9e19258a50774e70"/>
    <p:sldId xmlns:r="http://schemas.openxmlformats.org/officeDocument/2006/relationships" id="259" r:id="Rcd02e9a0fa104a0b"/>
    <p:sldId xmlns:r="http://schemas.openxmlformats.org/officeDocument/2006/relationships" id="260" r:id="R264756cc63834d73"/>
    <p:sldId xmlns:r="http://schemas.openxmlformats.org/officeDocument/2006/relationships" id="261" r:id="R184cbd22466e418a"/>
    <p:sldId xmlns:r="http://schemas.openxmlformats.org/officeDocument/2006/relationships" id="262" r:id="Rdf0f8d966c57489c"/>
    <p:sldId xmlns:r="http://schemas.openxmlformats.org/officeDocument/2006/relationships" id="263" r:id="R97c80e890b5e4fd0"/>
    <p:sldId xmlns:r="http://schemas.openxmlformats.org/officeDocument/2006/relationships" id="264" r:id="R7943054436d14afc"/>
    <p:sldId xmlns:r="http://schemas.openxmlformats.org/officeDocument/2006/relationships" id="265" r:id="Rd11f4aa4a9c04581"/>
    <p:sldId xmlns:r="http://schemas.openxmlformats.org/officeDocument/2006/relationships" id="266" r:id="R323d623dd88c4296"/>
    <p:sldId xmlns:r="http://schemas.openxmlformats.org/officeDocument/2006/relationships" id="267" r:id="Re0e36d5018874e87"/>
    <p:sldId xmlns:r="http://schemas.openxmlformats.org/officeDocument/2006/relationships" id="268" r:id="R6ce5f6d4dcef4f17"/>
    <p:sldId xmlns:r="http://schemas.openxmlformats.org/officeDocument/2006/relationships" id="269" r:id="Rf2b86b768d7d45dc"/>
    <p:sldId xmlns:r="http://schemas.openxmlformats.org/officeDocument/2006/relationships" id="270" r:id="R2865b99b5a394d11"/>
    <p:sldId xmlns:r="http://schemas.openxmlformats.org/officeDocument/2006/relationships" id="271" r:id="R141a29dd179a44dc"/>
    <p:sldId xmlns:r="http://schemas.openxmlformats.org/officeDocument/2006/relationships" id="272" r:id="R5947fbf200f54586"/>
    <p:sldId xmlns:r="http://schemas.openxmlformats.org/officeDocument/2006/relationships" id="273" r:id="Race7cfe2b56f403a"/>
    <p:sldId xmlns:r="http://schemas.openxmlformats.org/officeDocument/2006/relationships" id="274" r:id="R879b81cec2f246db"/>
    <p:sldId xmlns:r="http://schemas.openxmlformats.org/officeDocument/2006/relationships" id="275" r:id="Rb0809e26fb2a4ee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3c878588ef4e1b" /><Relationship Type="http://schemas.openxmlformats.org/officeDocument/2006/relationships/slideMaster" Target="/ppt/slideMasters/slideMaster1.xml" Id="Rd2e5ad350ab24a95" /><Relationship Type="http://schemas.openxmlformats.org/officeDocument/2006/relationships/notesMaster" Target="/ppt/notesMasters/notesMaster1.xml" Id="R349479c33528429a" /><Relationship Type="http://schemas.openxmlformats.org/officeDocument/2006/relationships/presProps" Target="/ppt/presProps.xml" Id="Racdf5d993f7040e3" /><Relationship Type="http://schemas.openxmlformats.org/officeDocument/2006/relationships/tableStyles" Target="/ppt/tableStyles.xml" Id="R1a3cbcf05a2c4e77" /><Relationship Type="http://schemas.openxmlformats.org/officeDocument/2006/relationships/slide" Target="/ppt/slides/slide1.xml" Id="Rc789193ff4f84d56" /><Relationship Type="http://schemas.openxmlformats.org/officeDocument/2006/relationships/slide" Target="/ppt/slides/slide2.xml" Id="Ra1c50d3452ad4e98" /><Relationship Type="http://schemas.openxmlformats.org/officeDocument/2006/relationships/slide" Target="/ppt/slides/slide3.xml" Id="R9e19258a50774e70" /><Relationship Type="http://schemas.openxmlformats.org/officeDocument/2006/relationships/slide" Target="/ppt/slides/slide4.xml" Id="Rcd02e9a0fa104a0b" /><Relationship Type="http://schemas.openxmlformats.org/officeDocument/2006/relationships/slide" Target="/ppt/slides/slide5.xml" Id="R264756cc63834d73" /><Relationship Type="http://schemas.openxmlformats.org/officeDocument/2006/relationships/slide" Target="/ppt/slides/slide6.xml" Id="R184cbd22466e418a" /><Relationship Type="http://schemas.openxmlformats.org/officeDocument/2006/relationships/slide" Target="/ppt/slides/slide7.xml" Id="Rdf0f8d966c57489c" /><Relationship Type="http://schemas.openxmlformats.org/officeDocument/2006/relationships/slide" Target="/ppt/slides/slide8.xml" Id="R97c80e890b5e4fd0" /><Relationship Type="http://schemas.openxmlformats.org/officeDocument/2006/relationships/slide" Target="/ppt/slides/slide9.xml" Id="R7943054436d14afc" /><Relationship Type="http://schemas.openxmlformats.org/officeDocument/2006/relationships/slide" Target="/ppt/slides/slide10.xml" Id="Rd11f4aa4a9c04581" /><Relationship Type="http://schemas.openxmlformats.org/officeDocument/2006/relationships/slide" Target="/ppt/slides/slide11.xml" Id="R323d623dd88c4296" /><Relationship Type="http://schemas.openxmlformats.org/officeDocument/2006/relationships/slide" Target="/ppt/slides/slide12.xml" Id="Re0e36d5018874e87" /><Relationship Type="http://schemas.openxmlformats.org/officeDocument/2006/relationships/slide" Target="/ppt/slides/slide13.xml" Id="R6ce5f6d4dcef4f17" /><Relationship Type="http://schemas.openxmlformats.org/officeDocument/2006/relationships/slide" Target="/ppt/slides/slide14.xml" Id="Rf2b86b768d7d45dc" /><Relationship Type="http://schemas.openxmlformats.org/officeDocument/2006/relationships/slide" Target="/ppt/slides/slide15.xml" Id="R2865b99b5a394d11" /><Relationship Type="http://schemas.openxmlformats.org/officeDocument/2006/relationships/slide" Target="/ppt/slides/slide16.xml" Id="R141a29dd179a44dc" /><Relationship Type="http://schemas.openxmlformats.org/officeDocument/2006/relationships/slide" Target="/ppt/slides/slide17.xml" Id="R5947fbf200f54586" /><Relationship Type="http://schemas.openxmlformats.org/officeDocument/2006/relationships/slide" Target="/ppt/slides/slide18.xml" Id="Race7cfe2b56f403a" /><Relationship Type="http://schemas.openxmlformats.org/officeDocument/2006/relationships/slide" Target="/ppt/slides/slide19.xml" Id="R879b81cec2f246db" /><Relationship Type="http://schemas.openxmlformats.org/officeDocument/2006/relationships/slide" Target="/ppt/slides/slide20.xml" Id="Rb0809e26fb2a4e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5f68bf346441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c37a3fa4194dcf" /><Relationship Type="http://schemas.openxmlformats.org/officeDocument/2006/relationships/notesMaster" Target="/ppt/notesMasters/notesMaster1.xml" Id="Ra94d7c6595ca4d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399d8318e44ebe" /><Relationship Type="http://schemas.openxmlformats.org/officeDocument/2006/relationships/notesMaster" Target="/ppt/notesMasters/notesMaster1.xml" Id="R63804d6173c740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f7e10e75374381" /><Relationship Type="http://schemas.openxmlformats.org/officeDocument/2006/relationships/notesMaster" Target="/ppt/notesMasters/notesMaster1.xml" Id="Rea0550afc8184e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c976c93b6942fe" /><Relationship Type="http://schemas.openxmlformats.org/officeDocument/2006/relationships/notesMaster" Target="/ppt/notesMasters/notesMaster1.xml" Id="R6b40b560cc2741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1000b35a3747eb" /><Relationship Type="http://schemas.openxmlformats.org/officeDocument/2006/relationships/notesMaster" Target="/ppt/notesMasters/notesMaster1.xml" Id="R70ca728c9fec4e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ac34a1eb804988" /><Relationship Type="http://schemas.openxmlformats.org/officeDocument/2006/relationships/notesMaster" Target="/ppt/notesMasters/notesMaster1.xml" Id="R3ef19d70ac404a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63f2cde3744532" /><Relationship Type="http://schemas.openxmlformats.org/officeDocument/2006/relationships/notesMaster" Target="/ppt/notesMasters/notesMaster1.xml" Id="Rb53235a277134b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62f742784b4a48" /><Relationship Type="http://schemas.openxmlformats.org/officeDocument/2006/relationships/notesMaster" Target="/ppt/notesMasters/notesMaster1.xml" Id="R1a15b71f190540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76451dc565432b" /><Relationship Type="http://schemas.openxmlformats.org/officeDocument/2006/relationships/notesMaster" Target="/ppt/notesMasters/notesMaster1.xml" Id="R2f77a12456a9428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aee72e0fc444d6" /><Relationship Type="http://schemas.openxmlformats.org/officeDocument/2006/relationships/notesMaster" Target="/ppt/notesMasters/notesMaster1.xml" Id="Rc3689dbd4b8e404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98daecc1bd4bb7" /><Relationship Type="http://schemas.openxmlformats.org/officeDocument/2006/relationships/notesMaster" Target="/ppt/notesMasters/notesMaster1.xml" Id="R690a4a86b5e747a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05f71041cda4f53" /><Relationship Type="http://schemas.openxmlformats.org/officeDocument/2006/relationships/notesMaster" Target="/ppt/notesMasters/notesMaster1.xml" Id="R2470a8290d5b4d2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8c08262e84c44be" /><Relationship Type="http://schemas.openxmlformats.org/officeDocument/2006/relationships/notesMaster" Target="/ppt/notesMasters/notesMaster1.xml" Id="Rcb933f47ce66425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5807f4f7e1a4b23" /><Relationship Type="http://schemas.openxmlformats.org/officeDocument/2006/relationships/notesMaster" Target="/ppt/notesMasters/notesMaster1.xml" Id="R21ef871c9a6043c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d10576ed00e41cb" /><Relationship Type="http://schemas.openxmlformats.org/officeDocument/2006/relationships/notesMaster" Target="/ppt/notesMasters/notesMaster1.xml" Id="R2cf27ea28bd44b0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a75cfd3a2c0428f" /><Relationship Type="http://schemas.openxmlformats.org/officeDocument/2006/relationships/notesMaster" Target="/ppt/notesMasters/notesMaster1.xml" Id="R663676f74aff4b4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fea4fa9860e435b" /><Relationship Type="http://schemas.openxmlformats.org/officeDocument/2006/relationships/notesMaster" Target="/ppt/notesMasters/notesMaster1.xml" Id="R29d51bc57b5d4ce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81fc48a3f98494f" /><Relationship Type="http://schemas.openxmlformats.org/officeDocument/2006/relationships/notesMaster" Target="/ppt/notesMasters/notesMaster1.xml" Id="R94e4bc218d534cf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e946c4024c94e62" /><Relationship Type="http://schemas.openxmlformats.org/officeDocument/2006/relationships/notesMaster" Target="/ppt/notesMasters/notesMaster1.xml" Id="R5a3eedba4174421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6dc890d6c5245d7" /><Relationship Type="http://schemas.openxmlformats.org/officeDocument/2006/relationships/notesMaster" Target="/ppt/notesMasters/notesMaster1.xml" Id="R79b96745894b46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开场点明作品和 A3 赛题方向：我们不是做一个普通问答机器人，而是把课程资料、画像、多 Agent 与多模态资源生产串成完整学习系统。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这一页把赛题拆成五个可评分能力，并说明项目的对应实现。重点让评委知道：我们围绕 A3 题目做的是资源生成系统，而不是聊天工具。已落地能力有资源工坊、多 Agent Trace 和多模态资产。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从学生真实学习痛点切入：他们并不缺资料，缺的是整理、适配和行动闭环。项目价值就在于让课程资料变成可以直接学习和复盘的资源包。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这一页给评委建立总图：输入是课程资料和学习目标，中间是画像与多 Agent，输出是多类型资源，最后回到首页推荐和学习闭环。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功能矩阵证明项目不是单点 Demo。资料、问答、资源生成、多 Agent、多模态和练习闭环共同支撑 A3 要求。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这里讲清楚用户怎么用：选资料、填目标、选资源类型，启动生成后看到进度和结果。旧功能没有被替代，而是被资源工坊串起来。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这是关键技术页。ResourceOrchestratorAgent 负责总控，专项 Agent 负责画像、总结、题库、路径、多模态和安全，Trace 让生成过程可解释、可追踪。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画像页强调个性化来源：专业、基础、目标、时间、偏好和薄弱点会影响资源包、学习路径和首页推荐。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这一页回答防幻觉问题：资料解析后进入向量库，问答时结合向量检索和 BM25，优先基于知识库回答，不知道就明确说明。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第十页必须压住评分点：明确展示至少五类资源。这里可以结合真实生成结果截图，说明一次生成可交付文档、导图、题库、路径和多模态资产。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这一页体现命题企业生态适配。要强调密钥在后端 Provider 层，前端只消费生成后的 ResourceAsset，不暴露 API Key。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文生图页展示多模态生成的第二条链路。注意不要使用空占位图冒充结果，正式答辩前应替换成真实生成图片截图。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结合最近优化后的首页讲：卡片要能发挥效果，承接资料、问答、总结、计划、错题和资源工坊，让学生知道下一步该做什么。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这一页避免夸大 EvaluationAgent：当前已经有出题、判分、错题本等数据基础，后续可以升级为更完整的学习效果评估。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架构页突出企业级工程能力：前后端分离，后端三层结构，AI 能力独立成层，Provider 可替换，数据和资产有独立管理。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安全页回答真实系统问题：如何降低幻觉、怎么处理多模态失败、长任务怎么追踪、密钥如何保护、文件如何鉴权。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创新总结要和评分项呼应：多 Agent、资源包、多模态、学习闭环。这些不是孤立功能，而是围绕 A3 题目的系统化设计。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完成度页只讲可验证事实：前端构建通过、资源工坊和 Trace 已接入、多模态 Provider 与资产闭环已具备，后续用测试截图增强可信度。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演示路线控制在 7 分钟内：从首页开始，进入资料和资源工坊，展示 Agent 进度、资源包、多模态资产，再回到问答或错题闭环。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结尾收束价值：当前项目已经能围绕课程生成多类型资源，未来继续增强评估、推荐和更丰富的多模态表达。不要把规划说成已完成。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cf0a75fca443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365bab5a654132" /><Relationship Type="http://schemas.openxmlformats.org/officeDocument/2006/relationships/slideLayout" Target="/ppt/slideLayouts/slideLayout1.xml" Id="R60f6eeef9ed549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f6eeef9ed549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a7b5b4d0f421a" /><Relationship Type="http://schemas.openxmlformats.org/officeDocument/2006/relationships/image" Target="/ppt/media/image.png" Id="R2e635640391a4e03" /><Relationship Type="http://schemas.openxmlformats.org/officeDocument/2006/relationships/notesSlide" Target="/ppt/notesSlides/notesSlide1.xml" Id="R585fc746dd5a4d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4df64f3c94093" /><Relationship Type="http://schemas.openxmlformats.org/officeDocument/2006/relationships/notesSlide" Target="/ppt/notesSlides/notesSlide2.xml" Id="R681083fc145244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3aa24cd204e4a" /><Relationship Type="http://schemas.openxmlformats.org/officeDocument/2006/relationships/notesSlide" Target="/ppt/notesSlides/notesSlide3.xml" Id="R8ecce5616e2b48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6127f9ec094898" /><Relationship Type="http://schemas.openxmlformats.org/officeDocument/2006/relationships/notesSlide" Target="/ppt/notesSlides/notesSlide4.xml" Id="R621302a0387944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28755e8be4b83" /><Relationship Type="http://schemas.openxmlformats.org/officeDocument/2006/relationships/notesSlide" Target="/ppt/notesSlides/notesSlide5.xml" Id="Rf6a1d38436704b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67508310b4f9f" /><Relationship Type="http://schemas.openxmlformats.org/officeDocument/2006/relationships/notesSlide" Target="/ppt/notesSlides/notesSlide6.xml" Id="R6aecb213a4f043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de3d509e74fbd" /><Relationship Type="http://schemas.openxmlformats.org/officeDocument/2006/relationships/notesSlide" Target="/ppt/notesSlides/notesSlide7.xml" Id="R38fc42ed34e043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d66abb7b54619" /><Relationship Type="http://schemas.openxmlformats.org/officeDocument/2006/relationships/notesSlide" Target="/ppt/notesSlides/notesSlide8.xml" Id="R7004ebbea2b140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6a40fbb064b73" /><Relationship Type="http://schemas.openxmlformats.org/officeDocument/2006/relationships/notesSlide" Target="/ppt/notesSlides/notesSlide9.xml" Id="R8973d17e28704d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7c387e85f422b" /><Relationship Type="http://schemas.openxmlformats.org/officeDocument/2006/relationships/notesSlide" Target="/ppt/notesSlides/notesSlide10.xml" Id="R9c1a20d2c7864b1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4015e4aaa4c3c" /><Relationship Type="http://schemas.openxmlformats.org/officeDocument/2006/relationships/notesSlide" Target="/ppt/notesSlides/notesSlide11.xml" Id="Re9f1d0f094a6485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71f7b06964a66" /><Relationship Type="http://schemas.openxmlformats.org/officeDocument/2006/relationships/notesSlide" Target="/ppt/notesSlides/notesSlide12.xml" Id="R1d0e205a8cc146e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740da1380a4896" /><Relationship Type="http://schemas.openxmlformats.org/officeDocument/2006/relationships/notesSlide" Target="/ppt/notesSlides/notesSlide13.xml" Id="R6e85acfb322447c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e9dbd84a047f6" /><Relationship Type="http://schemas.openxmlformats.org/officeDocument/2006/relationships/notesSlide" Target="/ppt/notesSlides/notesSlide14.xml" Id="R635c883e77ed4ec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ee57a7b3a4829" /><Relationship Type="http://schemas.openxmlformats.org/officeDocument/2006/relationships/notesSlide" Target="/ppt/notesSlides/notesSlide15.xml" Id="R0a0e2f04b1b1409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cda3fdff04bcb" /><Relationship Type="http://schemas.openxmlformats.org/officeDocument/2006/relationships/notesSlide" Target="/ppt/notesSlides/notesSlide16.xml" Id="Rd9ec077266304c0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1f587081c45d7" /><Relationship Type="http://schemas.openxmlformats.org/officeDocument/2006/relationships/notesSlide" Target="/ppt/notesSlides/notesSlide17.xml" Id="R1b4821fb7aab4fb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c99eab6f447f6" /><Relationship Type="http://schemas.openxmlformats.org/officeDocument/2006/relationships/notesSlide" Target="/ppt/notesSlides/notesSlide18.xml" Id="Rcaf29c73773d452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ef31a36b34e65" /><Relationship Type="http://schemas.openxmlformats.org/officeDocument/2006/relationships/notesSlide" Target="/ppt/notesSlides/notesSlide19.xml" Id="R7c1d88ad742a4ed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185c4d67e497c" /><Relationship Type="http://schemas.openxmlformats.org/officeDocument/2006/relationships/image" Target="/ppt/media/image2.png" Id="R127c24e6f8dc4117" /><Relationship Type="http://schemas.openxmlformats.org/officeDocument/2006/relationships/notesSlide" Target="/ppt/notesSlides/notesSlide20.xml" Id="R4b08c0aa0527407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635640391a4e0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C099A-7F93-4CE8-AAA9-DD75A0AF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2D"/>
          </a:solidFill>
          <a:ln xmlns:a="http://schemas.openxmlformats.org/drawingml/2006/main" w="0">
            <a:solidFill>
              <a:srgbClr val="071B2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A2DF7-9FBB-4D86-AD71-FD9D51AA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23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D402D-208D-4A3B-AD97-05B02405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144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D3EE"/>
                </a:solidFill>
              </a:defRPr>
            </a:pPr>
            <a:r>
              <a:rPr sz="1350" b="1">
                <a:solidFill>
                  <a:srgbClr val="22D3EE"/>
                </a:solidFill>
              </a:rPr>
              <a:t>中国软件杯 A3 赛道参赛作品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EE675-04A9-4C1B-9C1B-88A956C3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953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AI Study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Assistant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8DFEB-A7B6-4EEE-85CC-4DC0BB30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DEBFF"/>
                </a:solidFill>
              </a:defRPr>
            </a:pPr>
            <a:r>
              <a:rPr sz="2175" b="1">
                <a:solidFill>
                  <a:srgbClr val="CDEBFF"/>
                </a:solidFill>
              </a:rPr>
              <a:t>个性化资源生成与学习多智能体系统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723255-8FF8-4B06-951C-63446E40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4857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FC8DA"/>
                </a:solidFill>
              </a:defRPr>
            </a:pPr>
            <a:r>
              <a:rPr sz="1500" b="0">
                <a:solidFill>
                  <a:srgbClr val="AFC8DA"/>
                </a:solidFill>
              </a:rPr>
              <a:t>让课程资料经过多 Agent 协同，变成适合当前学生的可读、可练、可听、可看的学习资源。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BAC6E-31EA-4BD8-B3E6-90C399F6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1504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3E4C"/>
          </a:solidFill>
          <a:ln xmlns:a="http://schemas.openxmlformats.org/drawingml/2006/main" w="0">
            <a:solidFill>
              <a:srgbClr val="113E4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C4B4CA-3F0C-4916-9481-E1806350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多 Agent 协同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7969E4-5935-4F69-8D45-33FB3271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819650"/>
            <a:ext cx="8858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3B6F"/>
          </a:solidFill>
          <a:ln xmlns:a="http://schemas.openxmlformats.org/drawingml/2006/main" w="0">
            <a:solidFill>
              <a:srgbClr val="153B6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70EDF4-22CD-408B-88E5-F27153CB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87680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FC1FF"/>
                </a:solidFill>
              </a:defRPr>
            </a:pPr>
            <a:r>
              <a:rPr sz="975" b="1">
                <a:solidFill>
                  <a:srgbClr val="9FC1FF"/>
                </a:solidFill>
              </a:rPr>
              <a:t>个性化资源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846A85-AAF2-4C6E-858A-4F451F89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819650"/>
            <a:ext cx="8858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3A12"/>
          </a:solidFill>
          <a:ln xmlns:a="http://schemas.openxmlformats.org/drawingml/2006/main" w="0">
            <a:solidFill>
              <a:srgbClr val="5A3A1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27F986-04C0-4B45-A5FC-E28543C3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87680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D38A"/>
                </a:solidFill>
              </a:defRPr>
            </a:pPr>
            <a:r>
              <a:rPr sz="975" b="1">
                <a:solidFill>
                  <a:srgbClr val="FFD38A"/>
                </a:solidFill>
              </a:rPr>
              <a:t>讯飞多模态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AC32D7-8EE4-4131-A297-CB239F57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6740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896AA"/>
                </a:solidFill>
              </a:defRPr>
            </a:pPr>
            <a:r>
              <a:rPr sz="1050" b="0">
                <a:solidFill>
                  <a:srgbClr val="7896AA"/>
                </a:solidFill>
              </a:rPr>
              <a:t>队伍 / 学校 / 成员信息待替换 · 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3C370B-5C21-42B1-8782-0880E95D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3627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01 / 20</a:t>
            </a:r>
          </a:p>
        </p:txBody>
      </p:sp>
    </p:spTree>
    <p:extLst>
      <p:ext uri="{BB962C8B-B14F-4D97-AF65-F5344CB8AC3E}">
        <p14:creationId xmlns:p14="http://schemas.microsoft.com/office/powerpoint/2010/main" val="6890764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FF4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E27E56-FA7C-4476-A7B9-ED41F8A7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2D"/>
          </a:solidFill>
          <a:ln xmlns:a="http://schemas.openxmlformats.org/drawingml/2006/main" w="0">
            <a:solidFill>
              <a:srgbClr val="071B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0F020-8FBA-4A63-9A11-013029BD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0"/>
            <a:ext cx="2952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47"/>
          </a:solidFill>
          <a:ln xmlns:a="http://schemas.openxmlformats.org/drawingml/2006/main" w="0">
            <a:solidFill>
              <a:srgbClr val="0D2C4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FB1FE-756F-4F3B-B8A4-1A7646BF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76200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5070"/>
          </a:solidFill>
          <a:ln xmlns:a="http://schemas.openxmlformats.org/drawingml/2006/main" w="0">
            <a:solidFill>
              <a:srgbClr val="0E507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139A87-A874-4E17-B23E-169683F1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621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69A77E-E6C5-4AB9-8107-2201DCDF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赛题理解  /  AI STUDY ASSISTANT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DF18D1-50CC-4476-A50A-8933D8E1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赛题核心不是资源更多，而是资源更适合当前学生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402AE7-0DFB-486B-B5C5-71789F46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DB740-BDA7-461B-9CDF-BBE8296B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90500"/>
            <a:ext cx="78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31516C"/>
                </a:solidFill>
              </a:defRPr>
            </a:pPr>
            <a:r>
              <a:rPr sz="3300" b="1">
                <a:solidFill>
                  <a:srgbClr val="31516C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3070A6-4C59-422F-A64C-DE75D3F8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45720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943B87-A82A-4D49-95A5-02872D4E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7645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EE988B-DE0D-4CC1-82E0-4ED7511F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14550"/>
            <a:ext cx="876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CFF"/>
          </a:solidFill>
          <a:ln xmlns:a="http://schemas.openxmlformats.org/drawingml/2006/main" w="0">
            <a:solidFill>
              <a:srgbClr val="E4EC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442F80-75BA-4CBF-A13A-7D826A59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717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BFF"/>
                </a:solidFill>
              </a:defRPr>
            </a:pPr>
            <a:r>
              <a:rPr sz="975" b="1">
                <a:solidFill>
                  <a:srgbClr val="2F6BFF"/>
                </a:solidFill>
              </a:rPr>
              <a:t>命题侧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DD4B8-2DF8-4740-8845-12FEBA17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95550"/>
            <a:ext cx="411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A3 赛题要求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607ECA-BEB2-4CAA-9172-BFB7DAAB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41148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学习画像构建</a:t>
            </a:r>
          </a:p>
          <a:p xmlns:a="http://schemas.openxmlformats.org/drawingml/2006/main">
            <a:pPr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多智能体协同资源生成</a:t>
            </a:r>
          </a:p>
          <a:p xmlns:a="http://schemas.openxmlformats.org/drawingml/2006/main">
            <a:pPr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个性化路径规划</a:t>
            </a:r>
          </a:p>
          <a:p xmlns:a="http://schemas.openxmlformats.org/drawingml/2006/main">
            <a:pPr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多模态学习资源</a:t>
            </a:r>
          </a:p>
          <a:p xmlns:a="http://schemas.openxmlformats.org/drawingml/2006/main">
            <a:pPr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防幻觉与安全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DB2C69-C7BF-48B8-B0DE-B094DA68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43100"/>
            <a:ext cx="45720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0080B5-42D2-4EFB-82DB-76C752B8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7645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42B40B-4AE8-4703-913B-0EF21BE2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14550"/>
            <a:ext cx="876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7F3"/>
          </a:solidFill>
          <a:ln xmlns:a="http://schemas.openxmlformats.org/drawingml/2006/main" w="0">
            <a:solidFill>
              <a:srgbClr val="DDF7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8DB8AA-DA1F-4076-A4E7-A4F5DED8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717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8F87"/>
                </a:solidFill>
              </a:defRPr>
            </a:pPr>
            <a:r>
              <a:rPr sz="975" b="1">
                <a:solidFill>
                  <a:srgbClr val="0B8F87"/>
                </a:solidFill>
              </a:rPr>
              <a:t>作品侧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FF907D-9074-4275-BBE4-248E4619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95550"/>
            <a:ext cx="411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项目对应实现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4D7933-60F3-4846-AE11-0992784C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57500"/>
            <a:ext cx="41148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用户画像 + Profile 解析</a:t>
            </a:r>
          </a:p>
          <a:p xmlns:a="http://schemas.openxmlformats.org/drawingml/2006/main">
            <a:pPr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ResourceOrchestratorAgent 编排</a:t>
            </a:r>
          </a:p>
          <a:p xmlns:a="http://schemas.openxmlformats.org/drawingml/2006/main">
            <a:pPr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PlanAgent + 学习计划</a:t>
            </a:r>
          </a:p>
          <a:p xmlns:a="http://schemas.openxmlformats.org/drawingml/2006/main">
            <a:pPr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文档 / 题库 / 导图 / 播客 / 配图</a:t>
            </a:r>
          </a:p>
          <a:p xmlns:a="http://schemas.openxmlformats.org/drawingml/2006/main">
            <a:pPr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RAG + SafetyAgent 校验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644D72-DEBE-4DA5-8BA8-27EC60A2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314700"/>
            <a:ext cx="64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B8F87"/>
                </a:solidFill>
              </a:defRPr>
            </a:pPr>
            <a:r>
              <a:rPr sz="3450" b="1">
                <a:solidFill>
                  <a:srgbClr val="0B8F87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19F623-56B3-4862-9A63-CAC52027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B6E0E8-FB28-4C10-9D1E-53702C68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B82"/>
                </a:solidFill>
              </a:defRPr>
            </a:pPr>
            <a:r>
              <a:rPr sz="825" b="0">
                <a:solidFill>
                  <a:srgbClr val="5B6B82"/>
                </a:solidFill>
              </a:rPr>
              <a:t>AI Study Assistant · 个性化资源生成与学习多智能体系统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AA3772-1EFF-469D-9B07-7844E9C7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198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8F87"/>
                </a:solidFill>
              </a:defRPr>
            </a:pPr>
            <a:r>
              <a:rPr sz="825" b="1">
                <a:solidFill>
                  <a:srgbClr val="0B8F87"/>
                </a:solidFill>
              </a:rPr>
              <a:t>02 / 20</a:t>
            </a:r>
          </a:p>
        </p:txBody>
      </p:sp>
    </p:spTree>
    <p:extLst>
      <p:ext uri="{BB962C8B-B14F-4D97-AF65-F5344CB8AC3E}">
        <p14:creationId xmlns:p14="http://schemas.microsoft.com/office/powerpoint/2010/main" val="10211454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FF4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44DCFD-B87E-4C0E-9AB7-D4340589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2D"/>
          </a:solidFill>
          <a:ln xmlns:a="http://schemas.openxmlformats.org/drawingml/2006/main" w="0">
            <a:solidFill>
              <a:srgbClr val="071B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2E806-60AE-4AE3-99C0-52C8BA55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0"/>
            <a:ext cx="2952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47"/>
          </a:solidFill>
          <a:ln xmlns:a="http://schemas.openxmlformats.org/drawingml/2006/main" w="0">
            <a:solidFill>
              <a:srgbClr val="0D2C4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7954FE-6ACA-4C4E-809E-C3BDD8B0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76200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5070"/>
          </a:solidFill>
          <a:ln xmlns:a="http://schemas.openxmlformats.org/drawingml/2006/main" w="0">
            <a:solidFill>
              <a:srgbClr val="0E507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274028-6DFB-454A-81DE-F64E7F58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621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B0B45-339F-4625-9613-63430898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问题洞察  /  AI STUDY ASSISTANT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3AF9C1-B479-4D21-B195-DDC97EFD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高校自主学习卡在资料、理解和行动三类断点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EC9474-D820-4A6E-9FD8-2DD9C522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304A6-D7F8-4105-8E37-C66B95D8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90500"/>
            <a:ext cx="78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31516C"/>
                </a:solidFill>
              </a:defRPr>
            </a:pPr>
            <a:r>
              <a:rPr sz="3300" b="1">
                <a:solidFill>
                  <a:srgbClr val="31516C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674227-E64F-47FD-A731-D3AC6E50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31432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DD7894-F2C0-4B95-A289-88EEFD27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90A9C8-25B0-4733-BB92-E6188649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47900"/>
            <a:ext cx="876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CFF"/>
          </a:solidFill>
          <a:ln xmlns:a="http://schemas.openxmlformats.org/drawingml/2006/main" w="0">
            <a:solidFill>
              <a:srgbClr val="E4EC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0A71D0-AE3C-4233-840C-CA169894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050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BFF"/>
                </a:solidFill>
              </a:defRPr>
            </a:pPr>
            <a:r>
              <a:rPr sz="975" b="1">
                <a:solidFill>
                  <a:srgbClr val="2F6BFF"/>
                </a:solidFill>
              </a:rPr>
              <a:t>整理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67F5FA-35BA-4CF8-918A-4CF345CB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资料断点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680E4B-0541-4421-93BE-6FF9423F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90850"/>
            <a:ext cx="26860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课件、教材、论文和网课资源分散，学生难以快速筛选与组织。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10AD7A-1351-4D06-96D2-7011B616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76450"/>
            <a:ext cx="31432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CACBD6-9AF5-4ADC-814B-3520602C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980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EDBB32-7213-4138-803F-F1DF6F65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47900"/>
            <a:ext cx="876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CFF"/>
          </a:solidFill>
          <a:ln xmlns:a="http://schemas.openxmlformats.org/drawingml/2006/main" w="0">
            <a:solidFill>
              <a:srgbClr val="E4EC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8ADEC6-4F5F-4CAA-B6BD-554680C0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050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BFF"/>
                </a:solidFill>
              </a:defRPr>
            </a:pPr>
            <a:r>
              <a:rPr sz="975" b="1">
                <a:solidFill>
                  <a:srgbClr val="2F6BFF"/>
                </a:solidFill>
              </a:rPr>
              <a:t>适配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30FD43-48F0-4C52-8EE0-3CA69AAD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289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理解断点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FC82B3-69B1-4B68-B87F-FB335067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90850"/>
            <a:ext cx="26860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统一资料无法适配不同基础、目标和认知方式，学习成本被动升高。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FEF3A8-6D01-4558-BE53-AD4E5FDC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31432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57607D-14A8-47AF-A9F6-C205C0C9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0980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0957D1-EB9C-4351-B357-589B6B70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47900"/>
            <a:ext cx="876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0">
            <a:solidFill>
              <a:srgbClr val="FFED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093B97-189A-41E6-84BE-D57DC568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050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9E0B"/>
                </a:solidFill>
              </a:defRPr>
            </a:pPr>
            <a:r>
              <a:rPr sz="975" b="1">
                <a:solidFill>
                  <a:srgbClr val="F59E0B"/>
                </a:solidFill>
              </a:rPr>
              <a:t>闭环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DA36CB-E219-461A-B0B3-84ED6026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289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行动断点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F49E14-EF84-416D-884E-BF7CC69A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90850"/>
            <a:ext cx="26860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知道要学什么，却缺少路径、练习、反馈和复盘机制。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BC135D-F578-4E5A-8928-3EA81804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05400"/>
            <a:ext cx="975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8F87"/>
                </a:solidFill>
              </a:defRPr>
            </a:pPr>
            <a:r>
              <a:rPr sz="1725" b="1">
                <a:solidFill>
                  <a:srgbClr val="0B8F87"/>
                </a:solidFill>
              </a:rPr>
              <a:t>项目目标：以一门高校课程为输入，生成适合当前学生的学习资源包，并持续引导下一步学习。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D5B372-6A1E-4B80-A5F2-D007D300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B5D866-8D1D-43F1-B0E6-18338987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B82"/>
                </a:solidFill>
              </a:defRPr>
            </a:pPr>
            <a:r>
              <a:rPr sz="825" b="0">
                <a:solidFill>
                  <a:srgbClr val="5B6B82"/>
                </a:solidFill>
              </a:rPr>
              <a:t>AI Study Assistant · 个性化资源生成与学习多智能体系统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C9EB32-DDD8-43F7-9B70-ACB633F3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198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8F87"/>
                </a:solidFill>
              </a:defRPr>
            </a:pPr>
            <a:r>
              <a:rPr sz="825" b="1">
                <a:solidFill>
                  <a:srgbClr val="0B8F87"/>
                </a:solidFill>
              </a:rPr>
              <a:t>03 / 20</a:t>
            </a:r>
          </a:p>
        </p:txBody>
      </p:sp>
    </p:spTree>
    <p:extLst>
      <p:ext uri="{BB962C8B-B14F-4D97-AF65-F5344CB8AC3E}">
        <p14:creationId xmlns:p14="http://schemas.microsoft.com/office/powerpoint/2010/main" val="5847120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FF4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391466-BF8B-4D25-BF4E-600DEF56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2D"/>
          </a:solidFill>
          <a:ln xmlns:a="http://schemas.openxmlformats.org/drawingml/2006/main" w="0">
            <a:solidFill>
              <a:srgbClr val="071B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C37DA-586D-4104-A458-541C18A5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0"/>
            <a:ext cx="2952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47"/>
          </a:solidFill>
          <a:ln xmlns:a="http://schemas.openxmlformats.org/drawingml/2006/main" w="0">
            <a:solidFill>
              <a:srgbClr val="0D2C4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1B6E8-1885-487C-899D-F289C803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76200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5070"/>
          </a:solidFill>
          <a:ln xmlns:a="http://schemas.openxmlformats.org/drawingml/2006/main" w="0">
            <a:solidFill>
              <a:srgbClr val="0E507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4C708A-37EA-4736-B698-F5E0F429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621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EC6ED1-3E13-4C2F-B4EB-B0520140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系统总览  /  AI STUDY ASSISTANT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80B10-7827-4CF7-8C09-2AA40227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系统把课程资料加工成可持续使用的学习资源包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6C74EB-34AC-4E95-A4C4-5811DDBD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FDF8C-24F4-4C5E-90FF-D66FF4C6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90500"/>
            <a:ext cx="78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31516C"/>
                </a:solidFill>
              </a:defRPr>
            </a:pPr>
            <a:r>
              <a:rPr sz="3300" b="1">
                <a:solidFill>
                  <a:srgbClr val="31516C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2EFCC-BB33-463C-92A1-09D1E2C1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" y="2895600"/>
            <a:ext cx="592836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2E1"/>
          </a:solidFill>
          <a:ln xmlns:a="http://schemas.openxmlformats.org/drawingml/2006/main" w="0">
            <a:solidFill>
              <a:srgbClr val="C4D2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597ECF-3A0B-4CA8-9039-0F18761A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131064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F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5C310D-C178-443D-A8DA-91F37296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" y="2095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0FEDCA-F01D-4E4E-A54F-7B45C590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" y="21717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D57C79-9AD2-4647-BDA2-14696BB7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95550"/>
            <a:ext cx="112014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8F87"/>
                </a:solidFill>
              </a:defRPr>
            </a:pPr>
            <a:r>
              <a:rPr sz="1200" b="1">
                <a:solidFill>
                  <a:srgbClr val="0B8F87"/>
                </a:solidFill>
              </a:rPr>
              <a:t>课程资料</a:t>
            </a:r>
          </a:p>
          <a:p xmlns:a="http://schemas.openxmlformats.org/drawingml/2006/main">
            <a:pPr algn="ctr">
              <a:defRPr sz="1200" b="1">
                <a:solidFill>
                  <a:srgbClr val="0B8F87"/>
                </a:solidFill>
              </a:defRPr>
            </a:pPr>
            <a:r>
              <a:rPr sz="1200" b="1">
                <a:solidFill>
                  <a:srgbClr val="0B8F87"/>
                </a:solidFill>
              </a:rPr>
              <a:t>学习目标</a:t>
            </a:r>
          </a:p>
          <a:p xmlns:a="http://schemas.openxmlformats.org/drawingml/2006/main">
            <a:pPr algn="ctr">
              <a:defRPr sz="1200" b="1">
                <a:solidFill>
                  <a:srgbClr val="0B8F87"/>
                </a:solidFill>
              </a:defRPr>
            </a:pPr>
            <a:r>
              <a:rPr sz="1200" b="1">
                <a:solidFill>
                  <a:srgbClr val="0B8F87"/>
                </a:solidFill>
              </a:rPr>
              <a:t>学习历史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14D026-64F9-4380-A23C-31128848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0290" y="2266950"/>
            <a:ext cx="131064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F49A2C-A666-4796-87DE-A46B0513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160" y="2095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61A591-C2B0-4006-AA0B-AFD7D899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21717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D85F36-020E-4486-8446-3CB4F9D9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540" y="2495550"/>
            <a:ext cx="112014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6BFF"/>
                </a:solidFill>
              </a:defRPr>
            </a:pPr>
            <a:r>
              <a:rPr sz="1200" b="1">
                <a:solidFill>
                  <a:srgbClr val="2F6BFF"/>
                </a:solidFill>
              </a:rPr>
              <a:t>学生画像</a:t>
            </a:r>
          </a:p>
          <a:p xmlns:a="http://schemas.openxmlformats.org/drawingml/2006/main">
            <a:pPr algn="ctr">
              <a:defRPr sz="1200" b="1">
                <a:solidFill>
                  <a:srgbClr val="2F6BFF"/>
                </a:solidFill>
              </a:defRPr>
            </a:pPr>
            <a:r>
              <a:rPr sz="1200" b="1">
                <a:solidFill>
                  <a:srgbClr val="2F6BFF"/>
                </a:solidFill>
              </a:rPr>
              <a:t>资源工坊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ABFC2A-F0E0-40E2-9F88-4731CBEC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2380" y="2266950"/>
            <a:ext cx="131064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F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9E0B79-67BF-452D-8790-0CED8AFC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95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35DE1E-79D0-44E5-9A15-057E57A5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717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FA2FA2-2BCC-4898-8A96-D163190A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630" y="2495550"/>
            <a:ext cx="112014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8F87"/>
                </a:solidFill>
              </a:defRPr>
            </a:pPr>
            <a:r>
              <a:rPr sz="1200" b="1">
                <a:solidFill>
                  <a:srgbClr val="0B8F87"/>
                </a:solidFill>
              </a:rPr>
              <a:t>多 Agent</a:t>
            </a:r>
          </a:p>
          <a:p xmlns:a="http://schemas.openxmlformats.org/drawingml/2006/main">
            <a:pPr algn="ctr">
              <a:defRPr sz="1200" b="1">
                <a:solidFill>
                  <a:srgbClr val="0B8F87"/>
                </a:solidFill>
              </a:defRPr>
            </a:pPr>
            <a:r>
              <a:rPr sz="1200" b="1">
                <a:solidFill>
                  <a:srgbClr val="0B8F87"/>
                </a:solidFill>
              </a:rPr>
              <a:t>协同编排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CEE228-22DB-4435-BBD8-94B07D03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2266950"/>
            <a:ext cx="131064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11A208-C830-4CC1-8579-53E38455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8340" y="2095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D327EA-4196-4AE8-B3D4-FDFFA56C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21717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105728-90B2-4FDE-AF21-F5C7D8FA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9720" y="2495550"/>
            <a:ext cx="112014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6BFF"/>
                </a:solidFill>
              </a:defRPr>
            </a:pPr>
            <a:r>
              <a:rPr sz="1200" b="1">
                <a:solidFill>
                  <a:srgbClr val="2F6BFF"/>
                </a:solidFill>
              </a:rPr>
              <a:t>总结 / 导图</a:t>
            </a:r>
          </a:p>
          <a:p xmlns:a="http://schemas.openxmlformats.org/drawingml/2006/main">
            <a:pPr algn="ctr">
              <a:defRPr sz="1200" b="1">
                <a:solidFill>
                  <a:srgbClr val="2F6BFF"/>
                </a:solidFill>
              </a:defRPr>
            </a:pPr>
            <a:r>
              <a:rPr sz="1200" b="1">
                <a:solidFill>
                  <a:srgbClr val="2F6BFF"/>
                </a:solidFill>
              </a:rPr>
              <a:t>题库 / 路径</a:t>
            </a:r>
          </a:p>
          <a:p xmlns:a="http://schemas.openxmlformats.org/drawingml/2006/main">
            <a:pPr algn="ctr">
              <a:defRPr sz="1200" b="1">
                <a:solidFill>
                  <a:srgbClr val="2F6BFF"/>
                </a:solidFill>
              </a:defRPr>
            </a:pPr>
            <a:r>
              <a:rPr sz="1200" b="1">
                <a:solidFill>
                  <a:srgbClr val="2F6BFF"/>
                </a:solidFill>
              </a:rPr>
              <a:t>音频 / 配图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025B8E-DF33-43F6-A9EF-23B1A8CB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266950"/>
            <a:ext cx="131064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F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7CD9AE-4F68-4690-8A2A-94B14584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430" y="2095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4778FB-9EC4-4B5A-A9F4-381448C5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8530" y="21717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83B517-C898-4CFC-9FCE-C239B673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1810" y="2495550"/>
            <a:ext cx="112014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8F87"/>
                </a:solidFill>
              </a:defRPr>
            </a:pPr>
            <a:r>
              <a:rPr sz="1200" b="1">
                <a:solidFill>
                  <a:srgbClr val="0B8F87"/>
                </a:solidFill>
              </a:rPr>
              <a:t>首页推荐</a:t>
            </a:r>
          </a:p>
          <a:p xmlns:a="http://schemas.openxmlformats.org/drawingml/2006/main">
            <a:pPr algn="ctr">
              <a:defRPr sz="1200" b="1">
                <a:solidFill>
                  <a:srgbClr val="0B8F87"/>
                </a:solidFill>
              </a:defRPr>
            </a:pPr>
            <a:r>
              <a:rPr sz="1200" b="1">
                <a:solidFill>
                  <a:srgbClr val="0B8F87"/>
                </a:solidFill>
              </a:rPr>
              <a:t>问答 / 复盘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8BB9B3-9010-4044-B15B-649E6B07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85950"/>
            <a:ext cx="27622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9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51BCE5-9960-4595-9FF9-3266F994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81200"/>
            <a:ext cx="2571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2C47"/>
          </a:solidFill>
          <a:ln xmlns:a="http://schemas.openxmlformats.org/drawingml/2006/main" w="0">
            <a:solidFill>
              <a:srgbClr val="0D2C4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5A76ED-28BC-4CF8-B1E5-DD7173A3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66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C46E25-B2BB-4D4D-BC20-75843834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66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586A6C-21D8-46AA-B1CE-2F3EDCC5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66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CC6440-D24C-4121-8559-2EEA54E2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47900"/>
            <a:ext cx="25717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3DF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EBA9B3-53AD-43FC-9D28-283D418F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71775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525EFB-44E9-4ECF-87AF-EDEBE292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9560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8F87"/>
                </a:solidFill>
              </a:defRPr>
            </a:pPr>
            <a:r>
              <a:rPr sz="1425" b="1">
                <a:solidFill>
                  <a:srgbClr val="0B8F87"/>
                </a:solidFill>
              </a:rPr>
              <a:t>截图 S5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0AE797-1649-4810-A27D-588DDB25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09925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2"/>
                </a:solidFill>
              </a:defRPr>
            </a:pPr>
            <a:r>
              <a:rPr sz="975" b="0">
                <a:solidFill>
                  <a:srgbClr val="5B6B82"/>
                </a:solidFill>
              </a:rPr>
              <a:t>资源工坊创建表单 / 多模态开关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9D91D6-79FE-4479-80D5-5CDA09CA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815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B6B82"/>
                </a:solidFill>
              </a:defRPr>
            </a:pPr>
            <a:r>
              <a:rPr sz="1500" b="0">
                <a:solidFill>
                  <a:srgbClr val="5B6B82"/>
                </a:solidFill>
              </a:rPr>
              <a:t>资源工坊是 A3 核心入口：它不是推倒旧功能，而是把资料、问答、总结、出题、计划和多模态能力重新组织成一条生成流水线。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E32030-183E-4535-B997-3EA9C793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108CFB-D947-43D7-95CF-A1AB7764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B82"/>
                </a:solidFill>
              </a:defRPr>
            </a:pPr>
            <a:r>
              <a:rPr sz="825" b="0">
                <a:solidFill>
                  <a:srgbClr val="5B6B82"/>
                </a:solidFill>
              </a:rPr>
              <a:t>AI Study Assistant · 个性化资源生成与学习多智能体系统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41C58B-1C78-4791-8049-957D75E0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198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8F87"/>
                </a:solidFill>
              </a:defRPr>
            </a:pPr>
            <a:r>
              <a:rPr sz="825" b="1">
                <a:solidFill>
                  <a:srgbClr val="0B8F87"/>
                </a:solidFill>
              </a:rPr>
              <a:t>04 / 20</a:t>
            </a:r>
          </a:p>
        </p:txBody>
      </p:sp>
    </p:spTree>
    <p:extLst>
      <p:ext uri="{BB962C8B-B14F-4D97-AF65-F5344CB8AC3E}">
        <p14:creationId xmlns:p14="http://schemas.microsoft.com/office/powerpoint/2010/main" val="20678506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FF4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BF4AAC-760E-4DC9-BEFE-4D1A0AA9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2D"/>
          </a:solidFill>
          <a:ln xmlns:a="http://schemas.openxmlformats.org/drawingml/2006/main" w="0">
            <a:solidFill>
              <a:srgbClr val="071B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4BA03-FFE9-4FCE-9031-ED708866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0"/>
            <a:ext cx="2952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47"/>
          </a:solidFill>
          <a:ln xmlns:a="http://schemas.openxmlformats.org/drawingml/2006/main" w="0">
            <a:solidFill>
              <a:srgbClr val="0D2C4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24C78-EDDD-4E8B-9BDF-8DFDEEEF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76200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5070"/>
          </a:solidFill>
          <a:ln xmlns:a="http://schemas.openxmlformats.org/drawingml/2006/main" w="0">
            <a:solidFill>
              <a:srgbClr val="0E507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717458-14FA-424C-8E69-70965452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621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452C93-D145-48AA-A13E-9E2EB118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能力矩阵  /  AI STUDY ASSISTANT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7B6CD-AE58-4ED8-A2DA-6B16FA27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项目已形成从资料输入到学习闭环的完整能力矩阵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C9D997-3392-4554-9DB1-4608062F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59BD54-208D-4DE7-BED2-8B35A66D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90500"/>
            <a:ext cx="78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31516C"/>
                </a:solidFill>
              </a:defRPr>
            </a:pPr>
            <a:r>
              <a:rPr sz="3300" b="1">
                <a:solidFill>
                  <a:srgbClr val="31516C"/>
                </a:solidFill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55E71F-6F6D-4997-81E3-CF9E7496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3143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E4571-FD3A-4B89-AFB9-1DC3BC61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2405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669EB-6D4E-4912-A94E-6AA3688C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574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资料管理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C5DE42-BDB0-4A8C-B099-E45FCC1D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上传、解析、切片、入库</a:t>
            </a:r>
          </a:p>
          <a:p xmlns:a="http://schemas.openxmlformats.org/drawingml/2006/main">
            <a:pPr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构建课程知识库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E7F974-8249-4D89-98C3-43DFF67A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90700"/>
            <a:ext cx="3143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5E4ADF-7F09-4F98-8BAB-CF1CB16B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2405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5EF5DF-2AD3-419D-88DD-3A128D1B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574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RAG 问答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A3ABD1-50EB-4D58-86D7-D275C6D4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8125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混合检索、多轮问答</a:t>
            </a:r>
          </a:p>
          <a:p xmlns:a="http://schemas.openxmlformats.org/drawingml/2006/main">
            <a:pPr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降低幻觉风险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4135FF-B7F1-4283-8DCD-3D13F49A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90700"/>
            <a:ext cx="3143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F477C7-6BD3-4972-B8DA-233B4D87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2405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FEC0E0-7876-43A5-9BEE-B2A087BF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资源工坊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C58991-2E7C-4784-82F9-018D7DDD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一键生成多类型资源包</a:t>
            </a:r>
          </a:p>
          <a:p xmlns:a="http://schemas.openxmlformats.org/drawingml/2006/main">
            <a:pPr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A3 核心功能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4C714A-DF16-4B36-818B-415E325D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143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C44BB0-E7EE-4B43-AD55-390861ED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B2B843-37C2-4029-A45C-7EC71723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100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多 Agent 编排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7C2FE0-A820-46BE-BD22-54A1FE0D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3385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专项 Agent 分工</a:t>
            </a:r>
          </a:p>
          <a:p xmlns:a="http://schemas.openxmlformats.org/drawingml/2006/main">
            <a:pPr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Trace 可视化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43E0E9-245F-4D1C-9946-6E5050BC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43300"/>
            <a:ext cx="3143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129E2A-5289-435D-9463-55BE0C0F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7665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135FEE-1F52-4669-8539-66158077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100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多模态资产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34AD5F-C6F2-4B5C-9EBB-901574F4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3385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TTS 音频、文生图配图</a:t>
            </a:r>
          </a:p>
          <a:p xmlns:a="http://schemas.openxmlformats.org/drawingml/2006/main">
            <a:pPr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贴合讯飞生态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A4847F-1D6B-4469-8FF0-216D0AEB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43300"/>
            <a:ext cx="3143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CC639B-F472-4547-8EEB-4C7A7B97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7665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B6AC13-598E-411F-A81B-C68CD4E6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100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练习闭环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4F6748-0946-4DA8-9349-580892BA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33850"/>
            <a:ext cx="2686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出题、判分、错题本</a:t>
            </a:r>
          </a:p>
          <a:p xmlns:a="http://schemas.openxmlformats.org/drawingml/2006/main">
            <a:pPr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促进复习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FF8AB5-6A88-46F7-B653-8AD3BA7D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2C0A15-85EF-482F-99B5-241A0214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B82"/>
                </a:solidFill>
              </a:defRPr>
            </a:pPr>
            <a:r>
              <a:rPr sz="825" b="0">
                <a:solidFill>
                  <a:srgbClr val="5B6B82"/>
                </a:solidFill>
              </a:rPr>
              <a:t>AI Study Assistant · 个性化资源生成与学习多智能体系统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C91937-8D59-4E83-8580-219B2D20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198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8F87"/>
                </a:solidFill>
              </a:defRPr>
            </a:pPr>
            <a:r>
              <a:rPr sz="825" b="1">
                <a:solidFill>
                  <a:srgbClr val="0B8F87"/>
                </a:solidFill>
              </a:rPr>
              <a:t>05 / 20</a:t>
            </a:r>
          </a:p>
        </p:txBody>
      </p:sp>
    </p:spTree>
    <p:extLst>
      <p:ext uri="{BB962C8B-B14F-4D97-AF65-F5344CB8AC3E}">
        <p14:creationId xmlns:p14="http://schemas.microsoft.com/office/powerpoint/2010/main" val="6944562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FF4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369DF09-05B9-4DB2-897D-5DFC7F5F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2D"/>
          </a:solidFill>
          <a:ln xmlns:a="http://schemas.openxmlformats.org/drawingml/2006/main" w="0">
            <a:solidFill>
              <a:srgbClr val="071B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9F4F3D-C623-4A63-AD23-D48129F3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0"/>
            <a:ext cx="2952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47"/>
          </a:solidFill>
          <a:ln xmlns:a="http://schemas.openxmlformats.org/drawingml/2006/main" w="0">
            <a:solidFill>
              <a:srgbClr val="0D2C4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CFB30-8B0B-4C56-B02C-72EB1CB2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76200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5070"/>
          </a:solidFill>
          <a:ln xmlns:a="http://schemas.openxmlformats.org/drawingml/2006/main" w="0">
            <a:solidFill>
              <a:srgbClr val="0E507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EDBA2-6FFC-40B9-AD13-0B5BF8C0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621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82B56-5593-402F-96D5-D4FC745B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产品流程  /  AI STUDY ASSISTANT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B7FE03-A584-4F6E-A93C-A7DDC3E1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资源工坊让用户用一条路径完成资源生成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78D90-E3A3-4AE5-845B-46C6D738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FA3939-BD62-48CA-BF0D-4B0D9F69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90500"/>
            <a:ext cx="78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31516C"/>
                </a:solidFill>
              </a:defRPr>
            </a:pPr>
            <a:r>
              <a:rPr sz="3300" b="1">
                <a:solidFill>
                  <a:srgbClr val="31516C"/>
                </a:solidFill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94897-3D5F-4626-878B-3BAFF602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2628900"/>
            <a:ext cx="871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2E1"/>
          </a:solidFill>
          <a:ln xmlns:a="http://schemas.openxmlformats.org/drawingml/2006/main" w="0">
            <a:solidFill>
              <a:srgbClr val="C4D2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4AF6C1-C9C7-4318-8120-E5F8B359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1571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F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8DA14D-F543-4D8D-8A44-7286C01A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13" y="1981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CFC30D-FF44-42D7-AB85-AC6CACDA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3" y="20574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9C98E3-9697-4DEA-A1DB-E2762EB4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1381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8F87"/>
                </a:solidFill>
              </a:defRPr>
            </a:pPr>
            <a:r>
              <a:rPr sz="1200" b="1">
                <a:solidFill>
                  <a:srgbClr val="0B8F87"/>
                </a:solidFill>
              </a:rPr>
              <a:t>选择资料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3C3B4E-74C9-4819-B399-9F0C5305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152650"/>
            <a:ext cx="1571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DC123-FFC2-4E7E-844C-0A9E0C47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588" y="1981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07E4F8-DDAA-4D2B-85C2-695C751A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688" y="20574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15B152-4CE6-419D-853A-04591689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381250"/>
            <a:ext cx="1381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6BFF"/>
                </a:solidFill>
              </a:defRPr>
            </a:pPr>
            <a:r>
              <a:rPr sz="1200" b="1">
                <a:solidFill>
                  <a:srgbClr val="2F6BFF"/>
                </a:solidFill>
              </a:rPr>
              <a:t>填写目标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AAAFB3-12A6-43D9-96E3-994EFBDE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52650"/>
            <a:ext cx="1571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F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164B47-33D2-4BFF-9D3A-0BEF9CE3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663" y="1981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06A368-B9C2-424D-9B89-F9C440DE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763" y="20574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A4C6C0-20D5-405D-9FFD-75C7B2ED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81250"/>
            <a:ext cx="1381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8F87"/>
                </a:solidFill>
              </a:defRPr>
            </a:pPr>
            <a:r>
              <a:rPr sz="1200" b="1">
                <a:solidFill>
                  <a:srgbClr val="0B8F87"/>
                </a:solidFill>
              </a:rPr>
              <a:t>选择资源</a:t>
            </a:r>
          </a:p>
          <a:p xmlns:a="http://schemas.openxmlformats.org/drawingml/2006/main">
            <a:pPr algn="ctr">
              <a:defRPr sz="1200" b="1">
                <a:solidFill>
                  <a:srgbClr val="0B8F87"/>
                </a:solidFill>
              </a:defRPr>
            </a:pPr>
            <a:r>
              <a:rPr sz="1200" b="1">
                <a:solidFill>
                  <a:srgbClr val="0B8F87"/>
                </a:solidFill>
              </a:rPr>
              <a:t>与开关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554CB5-4DB2-470F-9AB1-587D6E50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52650"/>
            <a:ext cx="1571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780E5D-5808-49C2-AE6C-A224360B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38" y="1981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F13C1D-64C3-4E57-9C04-925664DD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0838" y="20574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ED916F-1C39-4E13-BEB0-BC17098C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81250"/>
            <a:ext cx="1381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6BFF"/>
                </a:solidFill>
              </a:defRPr>
            </a:pPr>
            <a:r>
              <a:rPr sz="1200" b="1">
                <a:solidFill>
                  <a:srgbClr val="2F6BFF"/>
                </a:solidFill>
              </a:rPr>
              <a:t>Agent 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D7A606-A456-4D9A-B1B1-DB160E3A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52650"/>
            <a:ext cx="1571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F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F58A41-BBEE-47EF-841B-A8CB690A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813" y="1981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36CADA-B9EE-4101-989D-F9D08F9A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3913" y="20574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F33FAB-54B7-45F7-9260-8AA59AD2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81250"/>
            <a:ext cx="1381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8F87"/>
                </a:solidFill>
              </a:defRPr>
            </a:pPr>
            <a:r>
              <a:rPr sz="1200" b="1">
                <a:solidFill>
                  <a:srgbClr val="0B8F87"/>
                </a:solidFill>
              </a:rPr>
              <a:t>查看资源包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667F2D-57F6-46CD-B38C-21E68AE7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152650"/>
            <a:ext cx="157162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1B6927-3BDC-41D8-825D-53E3DA9A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8888" y="1981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618E94-7C8C-4504-B02B-B666333A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988" y="20574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CB27DF-A3A0-43E6-AAB0-93A09ADF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381250"/>
            <a:ext cx="1381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6BFF"/>
                </a:solidFill>
              </a:defRPr>
            </a:pPr>
            <a:r>
              <a:rPr sz="1200" b="1">
                <a:solidFill>
                  <a:srgbClr val="2F6BFF"/>
                </a:solidFill>
              </a:rPr>
              <a:t>首页继续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625E00-4ACC-4A18-8E62-38DDB59A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90950"/>
            <a:ext cx="4095750" cy="1543050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9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3C2B9F-7C7C-4B38-BE1E-5B639B14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86200"/>
            <a:ext cx="3905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2C47"/>
          </a:solidFill>
          <a:ln xmlns:a="http://schemas.openxmlformats.org/drawingml/2006/main" w="0">
            <a:solidFill>
              <a:srgbClr val="0D2C4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BFE684-878A-477B-BA2F-A819E590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971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02221F-5B27-4791-A960-730AD1C4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971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ADCEB9-CAAC-4C51-A041-52506CA2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971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0D0380-A148-48F7-8BAC-92D17BF9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52900"/>
            <a:ext cx="3905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3DF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66FC68-0F7C-435D-ABC6-2E22E194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62425"/>
            <a:ext cx="3524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427DA4-15A3-445F-BBF0-8B38F0CE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86250"/>
            <a:ext cx="329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8F87"/>
                </a:solidFill>
              </a:defRPr>
            </a:pPr>
            <a:r>
              <a:rPr sz="1425" b="1">
                <a:solidFill>
                  <a:srgbClr val="0B8F87"/>
                </a:solidFill>
              </a:rPr>
              <a:t>截图 S5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604740-8355-4B05-861D-6B4FD3EC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00575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2"/>
                </a:solidFill>
              </a:defRPr>
            </a:pPr>
            <a:r>
              <a:rPr sz="975" b="0">
                <a:solidFill>
                  <a:srgbClr val="5B6B82"/>
                </a:solidFill>
              </a:rPr>
              <a:t>创建表单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3628FAE-E032-4162-ABCC-0C17355D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90950"/>
            <a:ext cx="4095750" cy="1543050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9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17EC0C-9BE2-4F3B-88F0-EF1EA307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86200"/>
            <a:ext cx="3905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2C47"/>
          </a:solidFill>
          <a:ln xmlns:a="http://schemas.openxmlformats.org/drawingml/2006/main" w="0">
            <a:solidFill>
              <a:srgbClr val="0D2C4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132F0B-69B7-4754-B35B-52618C3F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71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085D498-99AF-46AC-B7D8-3F8902BC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71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4E4D1F1-80F5-415D-B540-0AD14D9C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71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27C85FC-75B9-4C36-AC07-6217EC5C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52900"/>
            <a:ext cx="3905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3DFE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AD3AC14-83DC-4AC0-BF61-1D3A19E8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62425"/>
            <a:ext cx="3524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01CB5EF-2153-4A95-AD2C-F5CEEC37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86250"/>
            <a:ext cx="329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8F87"/>
                </a:solidFill>
              </a:defRPr>
            </a:pPr>
            <a:r>
              <a:rPr sz="1425" b="1">
                <a:solidFill>
                  <a:srgbClr val="0B8F87"/>
                </a:solidFill>
              </a:rPr>
              <a:t>截图 S7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E773D3C-2B2D-4AB4-BC75-226FF3B1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00575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2"/>
                </a:solidFill>
              </a:defRPr>
            </a:pPr>
            <a:r>
              <a:rPr sz="975" b="0">
                <a:solidFill>
                  <a:srgbClr val="5B6B82"/>
                </a:solidFill>
              </a:rPr>
              <a:t>资源包结果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85D5C8E-F53E-4D05-8636-7E4D4BAA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CA31303-3C0A-41B2-B42F-8A667CF9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B82"/>
                </a:solidFill>
              </a:defRPr>
            </a:pPr>
            <a:r>
              <a:rPr sz="825" b="0">
                <a:solidFill>
                  <a:srgbClr val="5B6B82"/>
                </a:solidFill>
              </a:rPr>
              <a:t>AI Study Assistant · 个性化资源生成与学习多智能体系统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E7CB762-5D43-4B59-B34C-3FED0952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198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8F87"/>
                </a:solidFill>
              </a:defRPr>
            </a:pPr>
            <a:r>
              <a:rPr sz="825" b="1">
                <a:solidFill>
                  <a:srgbClr val="0B8F87"/>
                </a:solidFill>
              </a:rPr>
              <a:t>06 / 20</a:t>
            </a:r>
          </a:p>
        </p:txBody>
      </p:sp>
    </p:spTree>
    <p:extLst>
      <p:ext uri="{BB962C8B-B14F-4D97-AF65-F5344CB8AC3E}">
        <p14:creationId xmlns:p14="http://schemas.microsoft.com/office/powerpoint/2010/main" val="20719214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FF4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E0E2BCD-B39F-4995-A03E-3D69AB33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2D"/>
          </a:solidFill>
          <a:ln xmlns:a="http://schemas.openxmlformats.org/drawingml/2006/main" w="0">
            <a:solidFill>
              <a:srgbClr val="071B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BD9624-FE3A-4454-BE67-FD7D33FC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0"/>
            <a:ext cx="2952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47"/>
          </a:solidFill>
          <a:ln xmlns:a="http://schemas.openxmlformats.org/drawingml/2006/main" w="0">
            <a:solidFill>
              <a:srgbClr val="0D2C4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42DF5-BEE9-495E-977A-D21247D0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76200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5070"/>
          </a:solidFill>
          <a:ln xmlns:a="http://schemas.openxmlformats.org/drawingml/2006/main" w="0">
            <a:solidFill>
              <a:srgbClr val="0E507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EFCB5-F8E1-488E-BF26-51E00F74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621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60D6B5-FE87-42D5-AA63-96561621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核心架构  /  AI STUDY ASSISTANT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EF5A5A-5913-4A8E-AAF2-5CDAB5C8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多 Agent 编排把生成任务拆成可追踪流水线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10316-5A41-48A2-B4BB-26C6FBDE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F75E8D-27C3-42A3-95F2-838278E1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90500"/>
            <a:ext cx="78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31516C"/>
                </a:solidFill>
              </a:defRPr>
            </a:pPr>
            <a:r>
              <a:rPr sz="3300" b="1">
                <a:solidFill>
                  <a:srgbClr val="31516C"/>
                </a:solidFill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39C378-476B-40D0-9EFE-4AF0962F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752600"/>
            <a:ext cx="43434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0B8F87"/>
          </a:solidFill>
          <a:ln xmlns:a="http://schemas.openxmlformats.org/drawingml/2006/main" w="9525">
            <a:solidFill>
              <a:srgbClr val="0B8F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D80030-B807-4CBD-812E-488AC8D8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050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ResourceOrchestratorAgent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F3956-2925-4D7C-9B32-556944A8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3295650"/>
            <a:ext cx="871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2E1"/>
          </a:solidFill>
          <a:ln xmlns:a="http://schemas.openxmlformats.org/drawingml/2006/main" w="0">
            <a:solidFill>
              <a:srgbClr val="C4D2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512432-A745-4D34-A7C3-6EFA3C0B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1571625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F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0FDDB7-6365-44B5-878E-649A5EE2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13" y="2686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179B0A-408B-4FBF-B91B-997E1D99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3" y="27622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D001B1-FEDB-462C-954F-69B7F618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1381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8F87"/>
                </a:solidFill>
              </a:defRPr>
            </a:pPr>
            <a:r>
              <a:rPr sz="1200" b="1">
                <a:solidFill>
                  <a:srgbClr val="0B8F87"/>
                </a:solidFill>
              </a:rPr>
              <a:t>Profile</a:t>
            </a:r>
          </a:p>
          <a:p xmlns:a="http://schemas.openxmlformats.org/drawingml/2006/main">
            <a:pPr algn="ctr">
              <a:defRPr sz="1200" b="1">
                <a:solidFill>
                  <a:srgbClr val="0B8F87"/>
                </a:solidFill>
              </a:defRPr>
            </a:pPr>
            <a:r>
              <a:rPr sz="1200" b="1">
                <a:solidFill>
                  <a:srgbClr val="0B8F87"/>
                </a:solidFill>
              </a:rPr>
              <a:t>画像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CCE40C-16F5-4260-BC34-942B635B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857500"/>
            <a:ext cx="1571625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690A2C-C671-4CEE-9E09-4B932FA5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588" y="2686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0B7AA5-6806-4A0C-AEAE-A27CFD83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688" y="27622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C7CD9F-6BB2-43A1-A80B-74DC042F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086100"/>
            <a:ext cx="1381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6BFF"/>
                </a:solidFill>
              </a:defRPr>
            </a:pPr>
            <a:r>
              <a:rPr sz="1200" b="1">
                <a:solidFill>
                  <a:srgbClr val="2F6BFF"/>
                </a:solidFill>
              </a:rPr>
              <a:t>Summary</a:t>
            </a:r>
          </a:p>
          <a:p xmlns:a="http://schemas.openxmlformats.org/drawingml/2006/main">
            <a:pPr algn="ctr">
              <a:defRPr sz="1200" b="1">
                <a:solidFill>
                  <a:srgbClr val="2F6BFF"/>
                </a:solidFill>
              </a:defRPr>
            </a:pPr>
            <a:r>
              <a:rPr sz="1200" b="1">
                <a:solidFill>
                  <a:srgbClr val="2F6BFF"/>
                </a:solidFill>
              </a:rPr>
              <a:t>总结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3DD647-BD9B-4948-B691-763221B3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57500"/>
            <a:ext cx="1571625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F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3BDB07-76C7-485E-9B1D-5CDEB2F6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663" y="2686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4059D9-4F02-4C7A-BFD8-8EA41081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763" y="27622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3F2EA1-E192-4850-A5C0-59905A41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86100"/>
            <a:ext cx="1381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8F87"/>
                </a:solidFill>
              </a:defRPr>
            </a:pPr>
            <a:r>
              <a:rPr sz="1200" b="1">
                <a:solidFill>
                  <a:srgbClr val="0B8F87"/>
                </a:solidFill>
              </a:rPr>
              <a:t>Quiz</a:t>
            </a:r>
          </a:p>
          <a:p xmlns:a="http://schemas.openxmlformats.org/drawingml/2006/main">
            <a:pPr algn="ctr">
              <a:defRPr sz="1200" b="1">
                <a:solidFill>
                  <a:srgbClr val="0B8F87"/>
                </a:solidFill>
              </a:defRPr>
            </a:pPr>
            <a:r>
              <a:rPr sz="1200" b="1">
                <a:solidFill>
                  <a:srgbClr val="0B8F87"/>
                </a:solidFill>
              </a:rPr>
              <a:t>题库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A3F477-9CBE-4FEF-8274-EADE7125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57500"/>
            <a:ext cx="1571625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F346CB-AAA7-46D5-82CA-8BFFD63D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38" y="2686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A62B3E-A90C-4B20-B7FA-5A9620EB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0838" y="27622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A8A06C-084F-4AA1-895B-C70CA303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86100"/>
            <a:ext cx="1381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6BFF"/>
                </a:solidFill>
              </a:defRPr>
            </a:pPr>
            <a:r>
              <a:rPr sz="1200" b="1">
                <a:solidFill>
                  <a:srgbClr val="2F6BFF"/>
                </a:solidFill>
              </a:rPr>
              <a:t>Plan</a:t>
            </a:r>
          </a:p>
          <a:p xmlns:a="http://schemas.openxmlformats.org/drawingml/2006/main">
            <a:pPr algn="ctr">
              <a:defRPr sz="1200" b="1">
                <a:solidFill>
                  <a:srgbClr val="2F6BFF"/>
                </a:solidFill>
              </a:defRPr>
            </a:pPr>
            <a:r>
              <a:rPr sz="1200" b="1">
                <a:solidFill>
                  <a:srgbClr val="2F6BFF"/>
                </a:solidFill>
              </a:rPr>
              <a:t>路径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5EFA99-6F2A-4A94-B6EC-79F61887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57500"/>
            <a:ext cx="1571625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F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BF974F-43DC-489C-8463-F68F894F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813" y="2686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581F31-96E9-4220-9D17-E9A1F0DE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3913" y="27622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B75DD3-1D77-445A-97F3-A41FE731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86100"/>
            <a:ext cx="1381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8F87"/>
                </a:solidFill>
              </a:defRPr>
            </a:pPr>
            <a:r>
              <a:rPr sz="1200" b="1">
                <a:solidFill>
                  <a:srgbClr val="0B8F87"/>
                </a:solidFill>
              </a:rPr>
              <a:t>Multimodal</a:t>
            </a:r>
          </a:p>
          <a:p xmlns:a="http://schemas.openxmlformats.org/drawingml/2006/main">
            <a:pPr algn="ctr">
              <a:defRPr sz="1200" b="1">
                <a:solidFill>
                  <a:srgbClr val="0B8F87"/>
                </a:solidFill>
              </a:defRPr>
            </a:pPr>
            <a:r>
              <a:rPr sz="1200" b="1">
                <a:solidFill>
                  <a:srgbClr val="0B8F87"/>
                </a:solidFill>
              </a:rPr>
              <a:t>音频/图片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A45461-0087-4F2D-B842-79576961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857500"/>
            <a:ext cx="1571625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924359-87AD-4FFE-AF11-5BA53397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8888" y="2686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BD120E-5CFA-438B-920E-1F09DBFD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988" y="27622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E9FDB4-B534-4197-B9AC-FBEBFDF4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086100"/>
            <a:ext cx="1381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6BFF"/>
                </a:solidFill>
              </a:defRPr>
            </a:pPr>
            <a:r>
              <a:rPr sz="1200" b="1">
                <a:solidFill>
                  <a:srgbClr val="2F6BFF"/>
                </a:solidFill>
              </a:rPr>
              <a:t>Safety</a:t>
            </a:r>
          </a:p>
          <a:p xmlns:a="http://schemas.openxmlformats.org/drawingml/2006/main">
            <a:pPr algn="ctr">
              <a:defRPr sz="1200" b="1">
                <a:solidFill>
                  <a:srgbClr val="2F6BFF"/>
                </a:solidFill>
              </a:defRPr>
            </a:pPr>
            <a:r>
              <a:rPr sz="1200" b="1">
                <a:solidFill>
                  <a:srgbClr val="2F6BFF"/>
                </a:solidFill>
              </a:rPr>
              <a:t>校验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71BA65-E1ED-4383-B611-1ED75928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52950"/>
            <a:ext cx="81915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D44D92-9CFB-46AC-B25E-3929C3E7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705350"/>
            <a:ext cx="7658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B6B82"/>
                </a:solidFill>
              </a:defRPr>
            </a:pPr>
            <a:r>
              <a:rPr sz="1500" b="1">
                <a:solidFill>
                  <a:srgbClr val="5B6B82"/>
                </a:solidFill>
              </a:rPr>
              <a:t>Tools + Existing Services + Xfyun Providers + RAG / VectorStore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7BB1DF-11FC-4C1C-A983-600E7A33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90700"/>
            <a:ext cx="219075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9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68B695-0CA8-4586-B756-C552016D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85950"/>
            <a:ext cx="2000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2C47"/>
          </a:solidFill>
          <a:ln xmlns:a="http://schemas.openxmlformats.org/drawingml/2006/main" w="0">
            <a:solidFill>
              <a:srgbClr val="0D2C4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8B71B0-0117-4F30-A0E3-98CB629C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71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501E5D-150C-4110-AB63-7124853E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71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57744D2-A32C-41B3-BE2C-C4A54F6E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971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088AD4-6795-4DE8-9C3A-FA48BE27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526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3DFE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ED47D8A-CD90-4CDA-9355-E663729A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43075"/>
            <a:ext cx="1619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C460E7A-CEAB-42A9-A78A-FF651698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669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8F87"/>
                </a:solidFill>
              </a:defRPr>
            </a:pPr>
            <a:r>
              <a:rPr sz="1425" b="1">
                <a:solidFill>
                  <a:srgbClr val="0B8F87"/>
                </a:solidFill>
              </a:rPr>
              <a:t>截图 S8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5CE7E05-9105-4313-9DE1-0CD552F1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81225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2"/>
                </a:solidFill>
              </a:defRPr>
            </a:pPr>
            <a:r>
              <a:rPr sz="975" b="0">
                <a:solidFill>
                  <a:srgbClr val="5B6B82"/>
                </a:solidFill>
              </a:rPr>
              <a:t>Agent Trace 时间线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B42DD61-566C-41BE-9C55-0B7EB4C2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DA56CC7-2752-45F1-B3B9-CACC618F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B82"/>
                </a:solidFill>
              </a:defRPr>
            </a:pPr>
            <a:r>
              <a:rPr sz="825" b="0">
                <a:solidFill>
                  <a:srgbClr val="5B6B82"/>
                </a:solidFill>
              </a:rPr>
              <a:t>AI Study Assistant · 个性化资源生成与学习多智能体系统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B25D0AA-3508-4E59-B31E-669344D6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198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8F87"/>
                </a:solidFill>
              </a:defRPr>
            </a:pPr>
            <a:r>
              <a:rPr sz="825" b="1">
                <a:solidFill>
                  <a:srgbClr val="0B8F87"/>
                </a:solidFill>
              </a:rPr>
              <a:t>07 / 20</a:t>
            </a:r>
          </a:p>
        </p:txBody>
      </p:sp>
    </p:spTree>
    <p:extLst>
      <p:ext uri="{BB962C8B-B14F-4D97-AF65-F5344CB8AC3E}">
        <p14:creationId xmlns:p14="http://schemas.microsoft.com/office/powerpoint/2010/main" val="11466639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FF4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D9AFE2-354C-46D4-84D6-39AD0B2D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2D"/>
          </a:solidFill>
          <a:ln xmlns:a="http://schemas.openxmlformats.org/drawingml/2006/main" w="0">
            <a:solidFill>
              <a:srgbClr val="071B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5E498-E789-443E-9A38-C9A2E7C7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0"/>
            <a:ext cx="2952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47"/>
          </a:solidFill>
          <a:ln xmlns:a="http://schemas.openxmlformats.org/drawingml/2006/main" w="0">
            <a:solidFill>
              <a:srgbClr val="0D2C4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A9551-471E-4D92-8D62-BCB96481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76200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5070"/>
          </a:solidFill>
          <a:ln xmlns:a="http://schemas.openxmlformats.org/drawingml/2006/main" w="0">
            <a:solidFill>
              <a:srgbClr val="0E507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EC138-2E59-49F0-892E-C8853708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621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F074A-D8FE-4893-88E4-4DC368A5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个性化  /  AI STUDY ASSISTANT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530FE-E854-4924-BDC1-1AEB9531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学生画像贯穿生成、规划和首页推荐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091BE1-35D1-4F4B-BD3C-F0ED643A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4483DA-2A9D-4A1F-AE55-2514CAAD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90500"/>
            <a:ext cx="78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31516C"/>
                </a:solidFill>
              </a:defRPr>
            </a:pPr>
            <a:r>
              <a:rPr sz="3300" b="1">
                <a:solidFill>
                  <a:srgbClr val="31516C"/>
                </a:solidFill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8E370-63D1-4260-BE5A-084CEC73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31813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7F3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C51412-122A-460B-B2E9-00CCCC72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CA4191-0E3E-4110-921E-ECCB4593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764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33D"/>
                </a:solidFill>
              </a:defRPr>
            </a:pPr>
            <a:r>
              <a:rPr sz="1500" b="1">
                <a:solidFill>
                  <a:srgbClr val="10233D"/>
                </a:solidFill>
              </a:rPr>
              <a:t>专业方向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74F671-1712-4CB3-AE08-4A3F01EC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27241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6B82"/>
                </a:solidFill>
              </a:defRPr>
            </a:pPr>
            <a:r>
              <a:rPr sz="1050" b="0">
                <a:solidFill>
                  <a:srgbClr val="5B6B82"/>
                </a:solidFill>
              </a:rPr>
              <a:t>作为资源生成与推荐上下文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B51558-AE74-45AD-9853-610068EF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09750"/>
            <a:ext cx="31813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4ECFF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DB5BB5-BA12-4B64-A057-06E5361C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94310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340F65-1E5B-45E1-8E95-5AF4F590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764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33D"/>
                </a:solidFill>
              </a:defRPr>
            </a:pPr>
            <a:r>
              <a:rPr sz="1500" b="1">
                <a:solidFill>
                  <a:srgbClr val="10233D"/>
                </a:solidFill>
              </a:rPr>
              <a:t>知识基础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3691BD-C09A-4F86-98E0-E54BBEEA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00300"/>
            <a:ext cx="27241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6B82"/>
                </a:solidFill>
              </a:defRPr>
            </a:pPr>
            <a:r>
              <a:rPr sz="1050" b="0">
                <a:solidFill>
                  <a:srgbClr val="5B6B82"/>
                </a:solidFill>
              </a:rPr>
              <a:t>作为资源生成与推荐上下文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B6492D-AB47-45B1-B477-F0F0B6F4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31813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7F3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331574-5545-47F2-9BBF-AD5F9BCA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D33AFE-DEEB-471D-8B7F-75D8740E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813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33D"/>
                </a:solidFill>
              </a:defRPr>
            </a:pPr>
            <a:r>
              <a:rPr sz="1500" b="1">
                <a:solidFill>
                  <a:srgbClr val="10233D"/>
                </a:solidFill>
              </a:rPr>
              <a:t>学习目标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A20F68-7355-49F6-AF63-DDB563DC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05200"/>
            <a:ext cx="27241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6B82"/>
                </a:solidFill>
              </a:defRPr>
            </a:pPr>
            <a:r>
              <a:rPr sz="1050" b="0">
                <a:solidFill>
                  <a:srgbClr val="5B6B82"/>
                </a:solidFill>
              </a:rPr>
              <a:t>作为资源生成与推荐上下文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574C52-36F7-45DA-8FEA-5BF37AC9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14650"/>
            <a:ext cx="31813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4ECFF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F55933-6E68-41D9-BDAB-3E872F03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4800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5134E2-C1D7-427A-B023-304119F4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813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33D"/>
                </a:solidFill>
              </a:defRPr>
            </a:pPr>
            <a:r>
              <a:rPr sz="1500" b="1">
                <a:solidFill>
                  <a:srgbClr val="10233D"/>
                </a:solidFill>
              </a:rPr>
              <a:t>时间约束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5D3730-442E-4C66-B22B-E4B6D0A8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05200"/>
            <a:ext cx="27241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6B82"/>
                </a:solidFill>
              </a:defRPr>
            </a:pPr>
            <a:r>
              <a:rPr sz="1050" b="0">
                <a:solidFill>
                  <a:srgbClr val="5B6B82"/>
                </a:solidFill>
              </a:rPr>
              <a:t>作为资源生成与推荐上下文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6CDBC6-46F0-413C-87D2-7970F5F8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31813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DF7F3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8BD0E2-2437-4471-A0C4-EF63260C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7A8ED9-7FE8-4DDE-A800-D9D2A8F2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862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33D"/>
                </a:solidFill>
              </a:defRPr>
            </a:pPr>
            <a:r>
              <a:rPr sz="1500" b="1">
                <a:solidFill>
                  <a:srgbClr val="10233D"/>
                </a:solidFill>
              </a:rPr>
              <a:t>内容偏好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D14F62-3EDE-4823-BE17-495879EE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10100"/>
            <a:ext cx="27241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6B82"/>
                </a:solidFill>
              </a:defRPr>
            </a:pPr>
            <a:r>
              <a:rPr sz="1050" b="0">
                <a:solidFill>
                  <a:srgbClr val="5B6B82"/>
                </a:solidFill>
              </a:rPr>
              <a:t>作为资源生成与推荐上下文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C9FB75-757C-40B0-B4F9-B4594169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19550"/>
            <a:ext cx="31813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4ECFF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73167C-93D3-4916-988F-4357ED35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5290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2ABD4E-533E-4E8B-B3E1-C5278818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2862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33D"/>
                </a:solidFill>
              </a:defRPr>
            </a:pPr>
            <a:r>
              <a:rPr sz="1500" b="1">
                <a:solidFill>
                  <a:srgbClr val="10233D"/>
                </a:solidFill>
              </a:rPr>
              <a:t>薄弱点 / 易错点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12853B-8C5F-4CE8-ABBC-21F84F21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10100"/>
            <a:ext cx="27241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B6B82"/>
                </a:solidFill>
              </a:defRPr>
            </a:pPr>
            <a:r>
              <a:rPr sz="1050" b="0">
                <a:solidFill>
                  <a:srgbClr val="5B6B82"/>
                </a:solidFill>
              </a:rPr>
              <a:t>作为资源生成与推荐上下文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53BFD2-D95E-481B-AD5D-92D03613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2857500" cy="27813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9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1943B6-2A48-4D7F-B76E-E7E634CA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81200"/>
            <a:ext cx="2667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2C47"/>
          </a:solidFill>
          <a:ln xmlns:a="http://schemas.openxmlformats.org/drawingml/2006/main" w="0">
            <a:solidFill>
              <a:srgbClr val="0D2C4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216A9A-4887-4221-B023-CD5A2408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66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71A92D-4729-4CC3-B15A-78181DFF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66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603F8C-A8E2-4FD7-B4B2-CE81E982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66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63F7C1-40B7-407D-A6FD-FB108C14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47900"/>
            <a:ext cx="26670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3DFE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A8BED1-EF09-4FDC-8770-3817E9EE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76550"/>
            <a:ext cx="2286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F7BE0F-8F8C-478F-8D53-C41073EA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00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8F87"/>
                </a:solidFill>
              </a:defRPr>
            </a:pPr>
            <a:r>
              <a:rPr sz="1425" b="1">
                <a:solidFill>
                  <a:srgbClr val="0B8F87"/>
                </a:solidFill>
              </a:rPr>
              <a:t>截图 S2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342E47-561D-4C9F-874B-8CFD0D14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147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2"/>
                </a:solidFill>
              </a:defRPr>
            </a:pPr>
            <a:r>
              <a:rPr sz="975" b="0">
                <a:solidFill>
                  <a:srgbClr val="5B6B82"/>
                </a:solidFill>
              </a:rPr>
              <a:t>用户中心画像 / 或用户中心 + 资源工坊目标输入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F4D349-B318-47FA-82BD-6BE5CA96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97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8F87"/>
                </a:solidFill>
              </a:defRPr>
            </a:pPr>
            <a:r>
              <a:rPr sz="1650" b="1">
                <a:solidFill>
                  <a:srgbClr val="0B8F87"/>
                </a:solidFill>
              </a:rPr>
              <a:t>画像不是一次性表单，而是贯穿资源生成、学习计划和首页下一步行动的上下文。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4AFD26-D42E-495F-AE1C-9BFC6E02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8B42FA-AF34-40A3-B3DA-A54A6A6C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B82"/>
                </a:solidFill>
              </a:defRPr>
            </a:pPr>
            <a:r>
              <a:rPr sz="825" b="0">
                <a:solidFill>
                  <a:srgbClr val="5B6B82"/>
                </a:solidFill>
              </a:rPr>
              <a:t>AI Study Assistant · 个性化资源生成与学习多智能体系统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27AAF1A-9584-45F3-8929-A69C8F40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198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8F87"/>
                </a:solidFill>
              </a:defRPr>
            </a:pPr>
            <a:r>
              <a:rPr sz="825" b="1">
                <a:solidFill>
                  <a:srgbClr val="0B8F87"/>
                </a:solidFill>
              </a:rPr>
              <a:t>08 / 20</a:t>
            </a:r>
          </a:p>
        </p:txBody>
      </p:sp>
    </p:spTree>
    <p:extLst>
      <p:ext uri="{BB962C8B-B14F-4D97-AF65-F5344CB8AC3E}">
        <p14:creationId xmlns:p14="http://schemas.microsoft.com/office/powerpoint/2010/main" val="18028340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FF4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76ED52D-952B-4829-A78B-3AC6DB9E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2D"/>
          </a:solidFill>
          <a:ln xmlns:a="http://schemas.openxmlformats.org/drawingml/2006/main" w="0">
            <a:solidFill>
              <a:srgbClr val="071B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33A19-25DA-42C4-9CAB-1C7E71C1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0"/>
            <a:ext cx="2952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47"/>
          </a:solidFill>
          <a:ln xmlns:a="http://schemas.openxmlformats.org/drawingml/2006/main" w="0">
            <a:solidFill>
              <a:srgbClr val="0D2C4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AC9F6-9E5C-4349-859D-A08E8622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76200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5070"/>
          </a:solidFill>
          <a:ln xmlns:a="http://schemas.openxmlformats.org/drawingml/2006/main" w="0">
            <a:solidFill>
              <a:srgbClr val="0E507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94501-57CC-45C6-85B0-DD067709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621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5E4180-2131-494B-B192-FA70AF3C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知识增强  /  AI STUDY ASSISTANT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C4388A-197A-4AE5-91E4-09700AD3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RAG 让 AI 辅导优先基于课程资料回答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E95F1-6A3D-4AA0-B72B-407259AA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03DE77-F9CF-4B5E-90BD-38C07D2D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90500"/>
            <a:ext cx="78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31516C"/>
                </a:solidFill>
              </a:defRPr>
            </a:pPr>
            <a:r>
              <a:rPr sz="3300" b="1">
                <a:solidFill>
                  <a:srgbClr val="31516C"/>
                </a:solidFill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BB839-E1E6-47D3-9639-C7099759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3" y="2466975"/>
            <a:ext cx="8715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2E1"/>
          </a:solidFill>
          <a:ln xmlns:a="http://schemas.openxmlformats.org/drawingml/2006/main" w="0">
            <a:solidFill>
              <a:srgbClr val="C4D2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54B145-A8F7-4F39-A1C2-8D2DBE6B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1571625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F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D1E94E-DE0E-4846-9C18-86789F43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13" y="1866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864F37-A2E6-4160-B43B-5FE485E1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3" y="19431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9BF4A6-D661-4D0C-BB02-CC737EFF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381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8F87"/>
                </a:solidFill>
              </a:defRPr>
            </a:pPr>
            <a:r>
              <a:rPr sz="1200" b="1">
                <a:solidFill>
                  <a:srgbClr val="0B8F87"/>
                </a:solidFill>
              </a:rPr>
              <a:t>PDF / DOCX</a:t>
            </a:r>
          </a:p>
          <a:p xmlns:a="http://schemas.openxmlformats.org/drawingml/2006/main">
            <a:pPr algn="ctr">
              <a:defRPr sz="1200" b="1">
                <a:solidFill>
                  <a:srgbClr val="0B8F87"/>
                </a:solidFill>
              </a:defRPr>
            </a:pPr>
            <a:r>
              <a:rPr sz="1200" b="1">
                <a:solidFill>
                  <a:srgbClr val="0B8F87"/>
                </a:solidFill>
              </a:rPr>
              <a:t>TXT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E3A64A-0A9B-4B1F-8E47-D653DC56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038350"/>
            <a:ext cx="1571625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E989C7-107B-49DB-B5FF-46CB89C8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588" y="1866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A0765E-E283-489A-B5E0-10F2A543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688" y="19431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43F139-8D40-4976-A5DC-29C7EC0E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266950"/>
            <a:ext cx="1381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6BFF"/>
                </a:solidFill>
              </a:defRPr>
            </a:pPr>
            <a:r>
              <a:rPr sz="1200" b="1">
                <a:solidFill>
                  <a:srgbClr val="2F6BFF"/>
                </a:solidFill>
              </a:rPr>
              <a:t>文档解析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449188-ED99-40C6-867D-D033EBAE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38350"/>
            <a:ext cx="1571625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F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D06CB1-4F0D-4238-A1B2-C9C4E398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663" y="1866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02361F-8A9B-4744-B6DB-4668891D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763" y="19431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83CA89-CBB6-44AA-9797-C844D57B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66950"/>
            <a:ext cx="1381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8F87"/>
                </a:solidFill>
              </a:defRPr>
            </a:pPr>
            <a:r>
              <a:rPr sz="1200" b="1">
                <a:solidFill>
                  <a:srgbClr val="0B8F87"/>
                </a:solidFill>
              </a:rPr>
              <a:t>Chunk 切片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86ACA3-2F15-449B-A12F-B414B1E6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38350"/>
            <a:ext cx="1571625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503B6E-8AAB-4211-91CC-5B88F379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38" y="1866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6B325C-6B74-4C78-8AB7-CF0611FB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0838" y="19431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5755EE-DF34-47FA-9ED7-95E510E7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66950"/>
            <a:ext cx="1381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6BFF"/>
                </a:solidFill>
              </a:defRPr>
            </a:pPr>
            <a:r>
              <a:rPr sz="1200" b="1">
                <a:solidFill>
                  <a:srgbClr val="2F6BFF"/>
                </a:solidFill>
              </a:rPr>
              <a:t>Embedding</a:t>
            </a:r>
          </a:p>
          <a:p xmlns:a="http://schemas.openxmlformats.org/drawingml/2006/main">
            <a:pPr algn="ctr">
              <a:defRPr sz="1200" b="1">
                <a:solidFill>
                  <a:srgbClr val="2F6BFF"/>
                </a:solidFill>
              </a:defRPr>
            </a:pPr>
            <a:r>
              <a:rPr sz="1200" b="1">
                <a:solidFill>
                  <a:srgbClr val="2F6BFF"/>
                </a:solidFill>
              </a:rPr>
              <a:t>PgVector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3560D0-4429-47EF-B414-6369D7AE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38350"/>
            <a:ext cx="1571625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F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6047C5-FA40-48EF-9129-665568F7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813" y="1866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789CD6-92AB-438E-B90E-DEF9F304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3913" y="19431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A9AAE5-8644-4B0F-8273-57567592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66950"/>
            <a:ext cx="1381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8F87"/>
                </a:solidFill>
              </a:defRPr>
            </a:pPr>
            <a:r>
              <a:rPr sz="1200" b="1">
                <a:solidFill>
                  <a:srgbClr val="0B8F87"/>
                </a:solidFill>
              </a:rPr>
              <a:t>Vector + BM25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56A6EF-6610-454E-8901-216318B8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038350"/>
            <a:ext cx="1571625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B5EA6F-5957-4ACC-896F-B0A3E1D2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8888" y="1866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B3698A-0441-406E-A1D6-B5A54A17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988" y="19431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A53F81-046F-4879-8C19-837B96BE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266950"/>
            <a:ext cx="1381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6BFF"/>
                </a:solidFill>
              </a:defRPr>
            </a:pPr>
            <a:r>
              <a:rPr sz="1200" b="1">
                <a:solidFill>
                  <a:srgbClr val="2F6BFF"/>
                </a:solidFill>
              </a:rPr>
              <a:t>RAG Answer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650CAE-4AF3-424F-85E9-D023D532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95700"/>
            <a:ext cx="43434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9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75E82D-228F-498B-91D0-D7510EDB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90950"/>
            <a:ext cx="4152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2C47"/>
          </a:solidFill>
          <a:ln xmlns:a="http://schemas.openxmlformats.org/drawingml/2006/main" w="0">
            <a:solidFill>
              <a:srgbClr val="0D2C4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B73450-FF51-4ADB-8F6F-60E8EBB4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76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1B9D8A-BCE6-4697-8AD5-2C3BBD7D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76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4339EF-A502-4D38-88D9-6B992543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76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513F0D-E73D-4B52-A3F5-F0E5C5A3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57650"/>
            <a:ext cx="4152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3DF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DFA50C-342A-40BC-AE87-19AFB3B4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57650"/>
            <a:ext cx="37719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45FE7F-4753-4C77-BF5E-ED586A58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81475"/>
            <a:ext cx="354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8F87"/>
                </a:solidFill>
              </a:defRPr>
            </a:pPr>
            <a:r>
              <a:rPr sz="1425" b="1">
                <a:solidFill>
                  <a:srgbClr val="0B8F87"/>
                </a:solidFill>
              </a:rPr>
              <a:t>截图 S3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BFFB31-17B0-4EEE-8AB4-ECCE431B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958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2"/>
                </a:solidFill>
              </a:defRPr>
            </a:pPr>
            <a:r>
              <a:rPr sz="975" b="0">
                <a:solidFill>
                  <a:srgbClr val="5B6B82"/>
                </a:solidFill>
              </a:rPr>
              <a:t>资料管理 / 上传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340718B-904D-43AC-9803-DFFBD5F2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95700"/>
            <a:ext cx="43434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9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0EC7404-2427-420E-94F7-425B7237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90950"/>
            <a:ext cx="4152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2C47"/>
          </a:solidFill>
          <a:ln xmlns:a="http://schemas.openxmlformats.org/drawingml/2006/main" w="0">
            <a:solidFill>
              <a:srgbClr val="0D2C4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5C40BD-9372-4319-A84D-8DC73469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76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E522C6-3502-4B0D-803C-30F690F6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76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9F0852C-C9A0-4075-AC6D-97A68BFA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76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A60E05D-CDC0-4553-9C4A-95B7827A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57650"/>
            <a:ext cx="4152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3DFE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5F8E992-F7EB-4139-8942-95ED9275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57650"/>
            <a:ext cx="37719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A868A9-ABB0-460C-B4BA-C4F0E3E7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81475"/>
            <a:ext cx="354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8F87"/>
                </a:solidFill>
              </a:defRPr>
            </a:pPr>
            <a:r>
              <a:rPr sz="1425" b="1">
                <a:solidFill>
                  <a:srgbClr val="0B8F87"/>
                </a:solidFill>
              </a:rPr>
              <a:t>截图 S4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58212DC-FFF4-4072-968D-C3506A7D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958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2"/>
                </a:solidFill>
              </a:defRPr>
            </a:pPr>
            <a:r>
              <a:rPr sz="975" b="0">
                <a:solidFill>
                  <a:srgbClr val="5B6B82"/>
                </a:solidFill>
              </a:rPr>
              <a:t>AI 问答 / RAG 回答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A105154-CD93-4FF1-B8A1-0BAA0E29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410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答不上时明确说明，而不是编造答案。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2BF902D-A346-4239-9C06-881BFC8F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6D8D324-C35F-4119-ACC7-B579E69F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B82"/>
                </a:solidFill>
              </a:defRPr>
            </a:pPr>
            <a:r>
              <a:rPr sz="825" b="0">
                <a:solidFill>
                  <a:srgbClr val="5B6B82"/>
                </a:solidFill>
              </a:rPr>
              <a:t>AI Study Assistant · 个性化资源生成与学习多智能体系统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0E449C6-3629-413F-B58B-BEDCDF9D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198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8F87"/>
                </a:solidFill>
              </a:defRPr>
            </a:pPr>
            <a:r>
              <a:rPr sz="825" b="1">
                <a:solidFill>
                  <a:srgbClr val="0B8F87"/>
                </a:solidFill>
              </a:rPr>
              <a:t>09 / 20</a:t>
            </a:r>
          </a:p>
        </p:txBody>
      </p:sp>
    </p:spTree>
    <p:extLst>
      <p:ext uri="{BB962C8B-B14F-4D97-AF65-F5344CB8AC3E}">
        <p14:creationId xmlns:p14="http://schemas.microsoft.com/office/powerpoint/2010/main" val="12257184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FF4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63F3BD7-C19E-4882-9C86-88512431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2D"/>
          </a:solidFill>
          <a:ln xmlns:a="http://schemas.openxmlformats.org/drawingml/2006/main" w="0">
            <a:solidFill>
              <a:srgbClr val="071B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1DB47-CF3F-4A43-998F-2CEFAB49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0"/>
            <a:ext cx="2952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47"/>
          </a:solidFill>
          <a:ln xmlns:a="http://schemas.openxmlformats.org/drawingml/2006/main" w="0">
            <a:solidFill>
              <a:srgbClr val="0D2C4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10C2BC-502F-4942-B16A-3CD9B0D1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76200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5070"/>
          </a:solidFill>
          <a:ln xmlns:a="http://schemas.openxmlformats.org/drawingml/2006/main" w="0">
            <a:solidFill>
              <a:srgbClr val="0E507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C9FE0-5898-4AA3-9C17-8DA17637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621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1EA73-95B1-4BFC-B0D4-C6AD5790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资源交付  /  AI STUDY ASSISTANT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A94E66-F570-4156-921C-58FCEBC4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一次生成，交付不少于五类可学习资源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386B3-530E-4304-9356-FD65983D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C12D9-7188-4D4E-8ABD-50335D77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90500"/>
            <a:ext cx="78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31516C"/>
                </a:solidFill>
              </a:defRPr>
            </a:pPr>
            <a:r>
              <a:rPr sz="3300" b="1">
                <a:solidFill>
                  <a:srgbClr val="31516C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9A201C-0F8B-48CF-A3E0-8CEE0D8F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6572250" cy="3295650"/>
          </a:xfrm>
          <a:prstGeom xmlns:a="http://schemas.openxmlformats.org/drawingml/2006/main" prst="roundRect">
            <a:avLst>
              <a:gd name="adj" fmla="val 4624"/>
            </a:avLst>
          </a:prstGeom>
          <a:solidFill xmlns:a="http://schemas.openxmlformats.org/drawingml/2006/main">
            <a:srgbClr val="0D2C47"/>
          </a:solidFill>
          <a:ln xmlns:a="http://schemas.openxmlformats.org/drawingml/2006/main" w="9525">
            <a:solidFill>
              <a:srgbClr val="0D2C4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15A7CA-CE2D-4D9C-BEA2-D5063106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2D3EE"/>
                </a:solidFill>
              </a:defRPr>
            </a:pPr>
            <a:r>
              <a:rPr sz="1050" b="1">
                <a:solidFill>
                  <a:srgbClr val="22D3EE"/>
                </a:solidFill>
              </a:rPr>
              <a:t>RESOURCE PACKAGE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351C9D-4AC7-4AB4-A028-F0681CEC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七类资源同步交付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D1C5AE-94B9-4CD5-80CC-0A1F6D75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27241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E4B58"/>
          </a:solidFill>
          <a:ln xmlns:a="http://schemas.openxmlformats.org/drawingml/2006/main" w="9525">
            <a:solidFill>
              <a:srgbClr val="0B8F8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F25FF6-2664-4297-A672-ED9C66C4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52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577428-8EF7-4088-A7EA-C40D4C2F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009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BF1A91-98B8-4C30-9EC2-08E25E7B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9085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课程讲解文档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B588A0-0ABF-4AC4-8DCE-E94C343A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95600"/>
            <a:ext cx="27241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73B70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E4AADF-FB04-49F6-8DBF-DFAB2F3E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52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63CF4F-C23A-4213-A967-4EBFCEF0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009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355CF3-0720-457A-8CDE-185CBDFC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9085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知识点思维导图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E50B11-E33B-4A81-A582-5C44D910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9950"/>
            <a:ext cx="27241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E4B58"/>
          </a:solidFill>
          <a:ln xmlns:a="http://schemas.openxmlformats.org/drawingml/2006/main" w="9525">
            <a:solidFill>
              <a:srgbClr val="0B8F8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49C7E5-B7C3-4E6A-BD47-8DA7982F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67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805715-DDCF-4D8C-8304-1A7CCFD0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524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DA30E7-6CD7-4B2D-BD1B-A7919F78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052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单选 / 判断 / 简答题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3386AA-4293-4CE4-89DD-1521C8C8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09950"/>
            <a:ext cx="27241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73B70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45D2CE-30C3-4C2B-8B09-26207D44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467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4A51FF-E251-402E-BD24-F4C74398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524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0684D3-488E-4199-B811-4BF45373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052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拓展阅读建议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DFB766-8C30-4A55-9B14-FC0BDD6F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27241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E4B58"/>
          </a:solidFill>
          <a:ln xmlns:a="http://schemas.openxmlformats.org/drawingml/2006/main" w="9525">
            <a:solidFill>
              <a:srgbClr val="0B8F8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F7EF88-6D40-4274-ADBD-804FC599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814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1365DB-3BD3-44B4-82D6-7C42D590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386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E9FEBE-9FD4-4D71-AE33-43E80D83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1955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阶段化学习路径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4A412D-372D-4C4D-AC72-423B6C73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24300"/>
            <a:ext cx="27241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73B70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103436-3D8F-4B0A-8FC3-216E70AE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814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16BBAF-9343-4E06-A9F6-EDB53F39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0386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5D84E1-5712-4E3B-8A20-399361BA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1955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多模态学习脚本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EC0BD8-821A-457C-A210-F7349AE6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7241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E4B58"/>
          </a:solidFill>
          <a:ln xmlns:a="http://schemas.openxmlformats.org/drawingml/2006/main" w="9525">
            <a:solidFill>
              <a:srgbClr val="0B8F8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B64253-54CD-4C82-9A19-2CD15F15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95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2AC7A6-039A-43CD-A82D-11EC37A3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5529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2AEB12-5BBF-4C5E-BF71-FB313DEE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339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播客音频 + 知识配图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FB703E-B36D-488E-9C56-B910C723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828800"/>
            <a:ext cx="3429000" cy="3295650"/>
          </a:xfrm>
          <a:prstGeom xmlns:a="http://schemas.openxmlformats.org/drawingml/2006/main" prst="roundRect">
            <a:avLst>
              <a:gd name="adj" fmla="val 46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9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DB709C-7B8C-443B-90E2-EA91A4C3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24050"/>
            <a:ext cx="3238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2C47"/>
          </a:solidFill>
          <a:ln xmlns:a="http://schemas.openxmlformats.org/drawingml/2006/main" w="0">
            <a:solidFill>
              <a:srgbClr val="0D2C4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ED2046-3FDB-4F1E-8D19-E4865777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97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71E145-0915-422A-8872-DAA536DB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97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FA8600-708F-47E8-9117-BF64C2B7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097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6D4E97C-E3E3-41A9-AA35-5140F511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3DFE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557E30-038E-4A25-A7B8-62B3AB8A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76575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24DF77D-CEEB-4FDD-A0A4-67218DEA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004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8F87"/>
                </a:solidFill>
              </a:defRPr>
            </a:pPr>
            <a:r>
              <a:rPr sz="1425" b="1">
                <a:solidFill>
                  <a:srgbClr val="0B8F87"/>
                </a:solidFill>
              </a:rPr>
              <a:t>截图 S7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5E0EBC9-35BC-4FEB-8F69-CA9BB847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1472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2"/>
                </a:solidFill>
              </a:defRPr>
            </a:pPr>
            <a:r>
              <a:rPr sz="975" b="0">
                <a:solidFill>
                  <a:srgbClr val="5B6B82"/>
                </a:solidFill>
              </a:rPr>
              <a:t>资源包结果总览 / 资源清单 / Markdown 内容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BDBAA74-D3A7-489A-A6F5-BA990F0E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467350"/>
            <a:ext cx="960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8F87"/>
                </a:solidFill>
              </a:defRPr>
            </a:pPr>
            <a:r>
              <a:rPr sz="1650" b="1">
                <a:solidFill>
                  <a:srgbClr val="0B8F87"/>
                </a:solidFill>
              </a:rPr>
              <a:t>一次生成覆盖“学、练、复盘、继续学”，明确超过 A3 要求的五类资源。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C346B16-059C-4C0C-968C-7733AE1A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F0F7B19-28D7-4825-A941-621E0FD0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B82"/>
                </a:solidFill>
              </a:defRPr>
            </a:pPr>
            <a:r>
              <a:rPr sz="825" b="0">
                <a:solidFill>
                  <a:srgbClr val="5B6B82"/>
                </a:solidFill>
              </a:rPr>
              <a:t>AI Study Assistant · 个性化资源生成与学习多智能体系统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19F1A31-A185-47BC-9808-6CCA9849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198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8F87"/>
                </a:solidFill>
              </a:defRPr>
            </a:pPr>
            <a:r>
              <a:rPr sz="825" b="1">
                <a:solidFill>
                  <a:srgbClr val="0B8F87"/>
                </a:solidFill>
              </a:rPr>
              <a:t>10 / 20</a:t>
            </a:r>
          </a:p>
        </p:txBody>
      </p:sp>
    </p:spTree>
    <p:extLst>
      <p:ext uri="{BB962C8B-B14F-4D97-AF65-F5344CB8AC3E}">
        <p14:creationId xmlns:p14="http://schemas.microsoft.com/office/powerpoint/2010/main" val="1460898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FF4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AAF8DF-73A9-41FA-AEBF-FE6C90BB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2D"/>
          </a:solidFill>
          <a:ln xmlns:a="http://schemas.openxmlformats.org/drawingml/2006/main" w="0">
            <a:solidFill>
              <a:srgbClr val="071B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031C4-EC51-442F-8168-051F2212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0"/>
            <a:ext cx="2952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47"/>
          </a:solidFill>
          <a:ln xmlns:a="http://schemas.openxmlformats.org/drawingml/2006/main" w="0">
            <a:solidFill>
              <a:srgbClr val="0D2C4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18DC0-D7D1-4A67-9212-EFC88074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76200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5070"/>
          </a:solidFill>
          <a:ln xmlns:a="http://schemas.openxmlformats.org/drawingml/2006/main" w="0">
            <a:solidFill>
              <a:srgbClr val="0E507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C03BE-7FB4-4E63-8E60-F9A32930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621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C121F-D489-4E83-A2C8-84137C66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多模态 · 音频  /  AI STUDY ASSISTANT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9CCB4-A7F0-47EA-B8FE-E7C00CD6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讯飞 TTS 把课程知识转成可听的学习播客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EABD1-CF09-4A17-9CDF-424E6D7F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6B9940-9580-4EC3-8032-4D1619D1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90500"/>
            <a:ext cx="78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31516C"/>
                </a:solidFill>
              </a:defRPr>
            </a:pPr>
            <a:r>
              <a:rPr sz="3300" b="1">
                <a:solidFill>
                  <a:srgbClr val="31516C"/>
                </a:solidFill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F750F9-14E0-48BA-A18B-513762AA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447675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C92493-C6ED-44B2-961D-4382C0B6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AF5AEE-7186-4821-BBBD-7D26D0C1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81200"/>
            <a:ext cx="13811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0">
            <a:solidFill>
              <a:srgbClr val="FFED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FC6027-98D5-4013-923E-7CD0656C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38350"/>
            <a:ext cx="11144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9E0B"/>
                </a:solidFill>
              </a:defRPr>
            </a:pPr>
            <a:r>
              <a:rPr sz="975" b="1">
                <a:solidFill>
                  <a:srgbClr val="F59E0B"/>
                </a:solidFill>
              </a:rPr>
              <a:t>Xfyun TTS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8895F3-BCAB-40D7-A5BA-B7720238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后端 Provider 接入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DB7440-0F2D-41ED-A196-89347755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24150"/>
            <a:ext cx="4019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MultimodalAgent 生成播客讲稿，后端调用讯飞在线 TTS，音频保存为 ResourceAsset，前端只负责播放、下载和重试。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71A231-B782-4017-9572-CE7D053B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44767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644852-5025-414D-B57B-1C538B2E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D43419-8A54-4DBA-BF1E-CF034073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2435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学习价值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5D2FBD-E64F-4594-8356-46120B13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48200"/>
            <a:ext cx="4019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适合通勤、复习、睡前回顾等碎片化学习场景，让资源包从“可读”扩展到“可听”。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17D266-A07B-484B-8DED-5AD25C56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4686300" cy="35052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9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AED826-D1F5-47CF-AC2C-566B2B79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05000"/>
            <a:ext cx="4495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2C47"/>
          </a:solidFill>
          <a:ln xmlns:a="http://schemas.openxmlformats.org/drawingml/2006/main" w="0">
            <a:solidFill>
              <a:srgbClr val="0D2C4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D53081-3250-4A16-8C0F-4C817060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90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B41C55-3E8C-490A-9F23-96F06C01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90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1EE06C-8840-4F88-900D-7ECD639A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90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618B7C-45EE-4B54-8A10-1F193A22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71700"/>
            <a:ext cx="44958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3DF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F64A9E-52D4-474E-B2A8-8F5B18D7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62300"/>
            <a:ext cx="41148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E1A568-37F7-4437-BD8F-5E722F46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86125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8F87"/>
                </a:solidFill>
              </a:defRPr>
            </a:pPr>
            <a:r>
              <a:rPr sz="1425" b="1">
                <a:solidFill>
                  <a:srgbClr val="0B8F87"/>
                </a:solidFill>
              </a:rPr>
              <a:t>截图 S9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5EA55C-DBD5-47AA-99A8-1F2EED73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00450"/>
            <a:ext cx="377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2"/>
                </a:solidFill>
              </a:defRPr>
            </a:pPr>
            <a:r>
              <a:rPr sz="975" b="0">
                <a:solidFill>
                  <a:srgbClr val="5B6B82"/>
                </a:solidFill>
              </a:rPr>
              <a:t>PodcastAssetCard / 播放器 / 下载 / 重试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A06D30-E214-4398-AB9A-3DF9D36B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01B7E4-53B9-47C6-9D25-576C7CC4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B82"/>
                </a:solidFill>
              </a:defRPr>
            </a:pPr>
            <a:r>
              <a:rPr sz="825" b="0">
                <a:solidFill>
                  <a:srgbClr val="5B6B82"/>
                </a:solidFill>
              </a:rPr>
              <a:t>AI Study Assistant · 个性化资源生成与学习多智能体系统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73A7A6-3D3D-481B-9B2D-AA93FFBD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198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8F87"/>
                </a:solidFill>
              </a:defRPr>
            </a:pPr>
            <a:r>
              <a:rPr sz="825" b="1">
                <a:solidFill>
                  <a:srgbClr val="0B8F87"/>
                </a:solidFill>
              </a:rPr>
              <a:t>11 / 20</a:t>
            </a:r>
          </a:p>
        </p:txBody>
      </p:sp>
    </p:spTree>
    <p:extLst>
      <p:ext uri="{BB962C8B-B14F-4D97-AF65-F5344CB8AC3E}">
        <p14:creationId xmlns:p14="http://schemas.microsoft.com/office/powerpoint/2010/main" val="10013158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FF4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0B7670-B121-48F8-9EB8-126CF37B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2D"/>
          </a:solidFill>
          <a:ln xmlns:a="http://schemas.openxmlformats.org/drawingml/2006/main" w="0">
            <a:solidFill>
              <a:srgbClr val="071B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B5CDE2-6CB5-4BD8-A156-1A5F6B9E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0"/>
            <a:ext cx="2952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47"/>
          </a:solidFill>
          <a:ln xmlns:a="http://schemas.openxmlformats.org/drawingml/2006/main" w="0">
            <a:solidFill>
              <a:srgbClr val="0D2C4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79C17-8FCD-4B92-99F8-1FF6E10E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76200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5070"/>
          </a:solidFill>
          <a:ln xmlns:a="http://schemas.openxmlformats.org/drawingml/2006/main" w="0">
            <a:solidFill>
              <a:srgbClr val="0E507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7FD8E7-AD5B-4698-B1AE-E749F0A2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621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F4ADC-1810-4321-B7AB-F32465C2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多模态 · 图像  /  AI STUDY ASSISTANT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109C29-337E-4E53-8606-9FB5938A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讯飞文生图把抽象知识变成可视化图解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663C1-8C0B-4042-BE26-EAADC817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C1B456-186A-4165-8B93-00533161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90500"/>
            <a:ext cx="78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31516C"/>
                </a:solidFill>
              </a:defRPr>
            </a:pPr>
            <a:r>
              <a:rPr sz="3300" b="1">
                <a:solidFill>
                  <a:srgbClr val="31516C"/>
                </a:solidFill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8295B-5A40-4D91-9EBD-E11C106C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4876800" cy="35052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9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12AC54-ACEB-4041-8DE9-A6B8802A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05000"/>
            <a:ext cx="468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2C47"/>
          </a:solidFill>
          <a:ln xmlns:a="http://schemas.openxmlformats.org/drawingml/2006/main" w="0">
            <a:solidFill>
              <a:srgbClr val="0D2C4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7360A9-CCC6-4472-8618-CDB543E7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90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4AFCF5-6E76-4335-BFA9-9A972E71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90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D5242D-B51F-47B6-A484-D09CF628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990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0E66AB-9780-46AA-BB44-529226BE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46863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3DF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35ADE7-A0CE-4869-87C6-15397C06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62300"/>
            <a:ext cx="43053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788F0C-FF33-4DB1-93DC-805D2941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86125"/>
            <a:ext cx="407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8F87"/>
                </a:solidFill>
              </a:defRPr>
            </a:pPr>
            <a:r>
              <a:rPr sz="1425" b="1">
                <a:solidFill>
                  <a:srgbClr val="0B8F87"/>
                </a:solidFill>
              </a:rPr>
              <a:t>截图 S10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4748D7-74EE-496C-BCEF-6BC77203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00450"/>
            <a:ext cx="3962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2"/>
                </a:solidFill>
              </a:defRPr>
            </a:pPr>
            <a:r>
              <a:rPr sz="975" b="0">
                <a:solidFill>
                  <a:srgbClr val="5B6B82"/>
                </a:solidFill>
              </a:rPr>
              <a:t>ImageAssetGallery / 真实生成图 / 预览下载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13684A-F84A-48B1-ADFF-1D701CC1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09750"/>
            <a:ext cx="4591050" cy="1543050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213507-9BBB-47B4-92FD-CB3241BB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4310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7386FE-F72E-4126-8A86-A7A41200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81200"/>
            <a:ext cx="13811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CFF"/>
          </a:solidFill>
          <a:ln xmlns:a="http://schemas.openxmlformats.org/drawingml/2006/main" w="0">
            <a:solidFill>
              <a:srgbClr val="E4EC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28FDE8-0E41-48EA-B904-A89B8E5D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38350"/>
            <a:ext cx="11144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BFF"/>
                </a:solidFill>
              </a:defRPr>
            </a:pPr>
            <a:r>
              <a:rPr sz="975" b="1">
                <a:solidFill>
                  <a:srgbClr val="2F6BFF"/>
                </a:solidFill>
              </a:rPr>
              <a:t>Xfyun TTI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1CDEAE-EB2D-4D61-9679-FC528C67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62200"/>
            <a:ext cx="413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生成链路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D96AD5-14FB-4E84-9A54-4C1E6F36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24150"/>
            <a:ext cx="413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课程重点 → 图片提示词 → 讯飞文生图 Provider → PNG/JPEG 资产 → 前端画廊预览。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7DC775-2E75-48AE-803F-61C47CE3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38550"/>
            <a:ext cx="45910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7EFE3F-BF7D-42A8-81BA-F6ED4DA1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7190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ABC29C-16EB-4720-A005-B3D7ED49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05250"/>
            <a:ext cx="413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展示价值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FD90B4-E88E-4AB9-A3F4-6B025E55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29100"/>
            <a:ext cx="41338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可用于资源包封面、图文解析、PPT 草稿，让复杂概念更容易被理解。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E7D442-516B-4807-9F8F-07FF854C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F326A7-E1CE-4E73-B4E8-B52CB52E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B82"/>
                </a:solidFill>
              </a:defRPr>
            </a:pPr>
            <a:r>
              <a:rPr sz="825" b="0">
                <a:solidFill>
                  <a:srgbClr val="5B6B82"/>
                </a:solidFill>
              </a:rPr>
              <a:t>AI Study Assistant · 个性化资源生成与学习多智能体系统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76A7A2-D24F-4FDC-AF49-77758C35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198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8F87"/>
                </a:solidFill>
              </a:defRPr>
            </a:pPr>
            <a:r>
              <a:rPr sz="825" b="1">
                <a:solidFill>
                  <a:srgbClr val="0B8F87"/>
                </a:solidFill>
              </a:rPr>
              <a:t>12 / 20</a:t>
            </a:r>
          </a:p>
        </p:txBody>
      </p:sp>
    </p:spTree>
    <p:extLst>
      <p:ext uri="{BB962C8B-B14F-4D97-AF65-F5344CB8AC3E}">
        <p14:creationId xmlns:p14="http://schemas.microsoft.com/office/powerpoint/2010/main" val="21268512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FF4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A34C67E-E2E9-4367-881A-7E6EF2EB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2D"/>
          </a:solidFill>
          <a:ln xmlns:a="http://schemas.openxmlformats.org/drawingml/2006/main" w="0">
            <a:solidFill>
              <a:srgbClr val="071B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1B2D3-DD7F-4D9B-BB16-1E963DDE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0"/>
            <a:ext cx="2952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47"/>
          </a:solidFill>
          <a:ln xmlns:a="http://schemas.openxmlformats.org/drawingml/2006/main" w="0">
            <a:solidFill>
              <a:srgbClr val="0D2C4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0B7655-963D-4625-B899-7BA06F44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76200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5070"/>
          </a:solidFill>
          <a:ln xmlns:a="http://schemas.openxmlformats.org/drawingml/2006/main" w="0">
            <a:solidFill>
              <a:srgbClr val="0E507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9CE0F-C0FF-4D77-A667-CEF30E9D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621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ABB8A4-4BCE-40D3-860A-FF1AF78C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学习行动  /  AI STUDY ASSISTANT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842B76-C2C0-4AA6-A4AE-1FBAA0C2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首页卡片承接生成后的下一步学习行动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083B0-B32C-473D-BC1C-569B6D4D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6489B-6EAD-4C5C-BC39-3D53056D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90500"/>
            <a:ext cx="78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31516C"/>
                </a:solidFill>
              </a:defRPr>
            </a:pPr>
            <a:r>
              <a:rPr sz="3300" b="1">
                <a:solidFill>
                  <a:srgbClr val="31516C"/>
                </a:solidFill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743AB0-29D7-4691-A6C4-DFA9F62B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" y="2590800"/>
            <a:ext cx="554736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2E1"/>
          </a:solidFill>
          <a:ln xmlns:a="http://schemas.openxmlformats.org/drawingml/2006/main" w="0">
            <a:solidFill>
              <a:srgbClr val="C4D2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E49878-9E36-4915-89B4-E32A0F4B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121539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F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5B69A7-AEB8-4C66-B70E-8F7D5FFC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" y="1905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E10873-0E2D-4705-826A-6E5B925C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" y="19812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2A3E8-4D99-4E57-B211-F737619F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05050"/>
            <a:ext cx="102489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8F87"/>
                </a:solidFill>
              </a:defRPr>
            </a:pPr>
            <a:r>
              <a:rPr sz="1200" b="1">
                <a:solidFill>
                  <a:srgbClr val="0B8F87"/>
                </a:solidFill>
              </a:rPr>
              <a:t>画像 + 资料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4741E4-C248-4C09-B58E-DDE39A1D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240" y="2076450"/>
            <a:ext cx="121539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031353-CC0A-467E-9CEC-8DBABF19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7485" y="1905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5CD9A9-6715-44C9-B389-99C3C0BF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5585" y="19812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EBB05F-2B7E-4639-A944-CC6EEB2F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6490" y="2305050"/>
            <a:ext cx="102489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6BFF"/>
                </a:solidFill>
              </a:defRPr>
            </a:pPr>
            <a:r>
              <a:rPr sz="1200" b="1">
                <a:solidFill>
                  <a:srgbClr val="2F6BFF"/>
                </a:solidFill>
              </a:rPr>
              <a:t>资源包历史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D94474-6EDE-4E17-9423-FC67C660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080" y="2076450"/>
            <a:ext cx="121539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F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5D8076-D62B-46DD-85D3-617CCA1F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905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C8A56F-F689-4E66-9D10-D904D0B7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9812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B45831-1855-4F7D-94B3-29557CCA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3330" y="2305050"/>
            <a:ext cx="102489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8F87"/>
                </a:solidFill>
              </a:defRPr>
            </a:pPr>
            <a:r>
              <a:rPr sz="1200" b="1">
                <a:solidFill>
                  <a:srgbClr val="0B8F87"/>
                </a:solidFill>
              </a:rPr>
              <a:t>个性化学习路径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6D7DEA-6FB6-4AF5-B442-65DFE641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076450"/>
            <a:ext cx="121539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720512-5456-4331-8B5A-33E8809E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165" y="1905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A4356C-C2DC-47A2-9CC0-C7A91066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265" y="19812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9B1B37-D64C-4EE5-B6A5-A2A98132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305050"/>
            <a:ext cx="102489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6BFF"/>
                </a:solidFill>
              </a:defRPr>
            </a:pPr>
            <a:r>
              <a:rPr sz="1200" b="1">
                <a:solidFill>
                  <a:srgbClr val="2F6BFF"/>
                </a:solidFill>
              </a:rPr>
              <a:t>首页推荐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6CA7AF-D70E-4832-A808-D6A4AFAB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2076450"/>
            <a:ext cx="121539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F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57B507-3B00-49A8-829B-5F54D8EC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8005" y="1905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C889AF-9182-4261-B1B9-9DE578A4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105" y="19812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FAFEF9-8C98-48D0-A5FB-7379C37C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010" y="2305050"/>
            <a:ext cx="102489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8F87"/>
                </a:solidFill>
              </a:defRPr>
            </a:pPr>
            <a:r>
              <a:rPr sz="1200" b="1">
                <a:solidFill>
                  <a:srgbClr val="0B8F87"/>
                </a:solidFill>
              </a:rPr>
              <a:t>继续问答</a:t>
            </a:r>
          </a:p>
          <a:p xmlns:a="http://schemas.openxmlformats.org/drawingml/2006/main">
            <a:pPr algn="ctr">
              <a:defRPr sz="1200" b="1">
                <a:solidFill>
                  <a:srgbClr val="0B8F87"/>
                </a:solidFill>
              </a:defRPr>
            </a:pPr>
            <a:r>
              <a:rPr sz="1200" b="1">
                <a:solidFill>
                  <a:srgbClr val="0B8F87"/>
                </a:solidFill>
              </a:rPr>
              <a:t>计划 / 复盘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601699-77E2-400B-ACE0-21331B30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52600"/>
            <a:ext cx="2857500" cy="16383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9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780CE6-5C71-4F82-84F5-E35C8920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47850"/>
            <a:ext cx="2667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2C47"/>
          </a:solidFill>
          <a:ln xmlns:a="http://schemas.openxmlformats.org/drawingml/2006/main" w="0">
            <a:solidFill>
              <a:srgbClr val="0D2C4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E54F01-7F51-4558-B5F0-B224C8B8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33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E0C361-B0B4-47C5-944D-77EF0613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33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D1C197-EDE2-4191-92B6-AC82518A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33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D2AB68-9F17-48ED-BEB4-187136EF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14550"/>
            <a:ext cx="2667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3DF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6AFD9B-74AC-4530-8BD7-F32DEEE4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71700"/>
            <a:ext cx="2286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E4D144-0185-415E-B971-18B09DB8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9552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8F87"/>
                </a:solidFill>
              </a:defRPr>
            </a:pPr>
            <a:r>
              <a:rPr sz="1425" b="1">
                <a:solidFill>
                  <a:srgbClr val="0B8F87"/>
                </a:solidFill>
              </a:rPr>
              <a:t>截图 S1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BD1166-97F3-4577-A0CA-82194136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098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2"/>
                </a:solidFill>
              </a:defRPr>
            </a:pPr>
            <a:r>
              <a:rPr sz="975" b="0">
                <a:solidFill>
                  <a:srgbClr val="5B6B82"/>
                </a:solidFill>
              </a:rPr>
              <a:t>首页卡片 / 推荐入口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B32EEA-D3DB-4ED7-8620-C21D43DF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76650"/>
            <a:ext cx="2857500" cy="16383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9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554AC0-2FEC-4553-9003-A3ABF1FE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71900"/>
            <a:ext cx="2667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2C47"/>
          </a:solidFill>
          <a:ln xmlns:a="http://schemas.openxmlformats.org/drawingml/2006/main" w="0">
            <a:solidFill>
              <a:srgbClr val="0D2C4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BC2B0C-2690-4B97-A8F0-63F56F59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57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A3B1F6-C26A-4D76-9EA9-DBF4900E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57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CB12CF-442E-47AC-BAAB-04F9B975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57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53D856-D613-43B5-ACCA-9D803C2C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38600"/>
            <a:ext cx="2667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3DFE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E873864-5C97-473D-8929-1AFE19B4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95750"/>
            <a:ext cx="2286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3A29E7-BB7C-48C6-9BA8-BCA50D81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195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8F87"/>
                </a:solidFill>
              </a:defRPr>
            </a:pPr>
            <a:r>
              <a:rPr sz="1425" b="1">
                <a:solidFill>
                  <a:srgbClr val="0B8F87"/>
                </a:solidFill>
              </a:rPr>
              <a:t>截图 S13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EE00756-3A56-4058-8684-D6A11F89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339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2"/>
                </a:solidFill>
              </a:defRPr>
            </a:pPr>
            <a:r>
              <a:rPr sz="975" b="0">
                <a:solidFill>
                  <a:srgbClr val="5B6B82"/>
                </a:solidFill>
              </a:rPr>
              <a:t>学习计划页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792FD0E-FD6B-4414-B4BF-54197DDD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7205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8F87"/>
                </a:solidFill>
              </a:defRPr>
            </a:pPr>
            <a:r>
              <a:rPr sz="1575" b="1">
                <a:solidFill>
                  <a:srgbClr val="0B8F87"/>
                </a:solidFill>
              </a:rPr>
              <a:t>首页不只是展示数据，而是把资料、资源工坊、AI 问答、学习计划和错题复盘串成行动入口。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06FA06-5F62-4766-BA20-089BD994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663BBC3-E99F-4081-BAAA-64E18B13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B82"/>
                </a:solidFill>
              </a:defRPr>
            </a:pPr>
            <a:r>
              <a:rPr sz="825" b="0">
                <a:solidFill>
                  <a:srgbClr val="5B6B82"/>
                </a:solidFill>
              </a:rPr>
              <a:t>AI Study Assistant · 个性化资源生成与学习多智能体系统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DC5E87C-5536-4796-98BB-53E8C1AF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198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8F87"/>
                </a:solidFill>
              </a:defRPr>
            </a:pPr>
            <a:r>
              <a:rPr sz="825" b="1">
                <a:solidFill>
                  <a:srgbClr val="0B8F87"/>
                </a:solidFill>
              </a:rPr>
              <a:t>13 / 20</a:t>
            </a:r>
          </a:p>
        </p:txBody>
      </p:sp>
    </p:spTree>
    <p:extLst>
      <p:ext uri="{BB962C8B-B14F-4D97-AF65-F5344CB8AC3E}">
        <p14:creationId xmlns:p14="http://schemas.microsoft.com/office/powerpoint/2010/main" val="13799363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FF4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EA05CFF-5404-4439-916C-3844047E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2D"/>
          </a:solidFill>
          <a:ln xmlns:a="http://schemas.openxmlformats.org/drawingml/2006/main" w="0">
            <a:solidFill>
              <a:srgbClr val="071B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A59540-BD2D-4297-B8DA-883C0192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0"/>
            <a:ext cx="2952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47"/>
          </a:solidFill>
          <a:ln xmlns:a="http://schemas.openxmlformats.org/drawingml/2006/main" w="0">
            <a:solidFill>
              <a:srgbClr val="0D2C4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BE732-2ADC-4B14-B19C-5EAF3B7B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76200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5070"/>
          </a:solidFill>
          <a:ln xmlns:a="http://schemas.openxmlformats.org/drawingml/2006/main" w="0">
            <a:solidFill>
              <a:srgbClr val="0E507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23953F-7F2B-473D-A592-172E92EF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621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1D3BD9-C672-472E-84DC-D34741DC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效果闭环  /  AI STUDY ASSISTANT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40640-BAF6-401B-B78F-D59C8919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练习、判分和错题本形成学习效果闭环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BC3E2D-6DA4-4B97-A805-3CB9FAEC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5A7AFD-CA62-446F-B82C-BE43BCA5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90500"/>
            <a:ext cx="78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31516C"/>
                </a:solidFill>
              </a:defRPr>
            </a:pPr>
            <a:r>
              <a:rPr sz="3300" b="1">
                <a:solidFill>
                  <a:srgbClr val="31516C"/>
                </a:solidFill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3EF541-B89F-42BE-8BC8-8DA0D0DE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" y="2571750"/>
            <a:ext cx="562356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2E1"/>
          </a:solidFill>
          <a:ln xmlns:a="http://schemas.openxmlformats.org/drawingml/2006/main" w="0">
            <a:solidFill>
              <a:srgbClr val="C4D2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5A5867-2BEB-4166-A8C2-063EF6C5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23444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F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485810-EBA5-40DD-8E6D-4CBC8C14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" y="1905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DD6608-299D-4908-8EBD-EEA5041F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" y="19812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655628-39FC-41F9-99CC-DB4AE940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104394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8F87"/>
                </a:solidFill>
              </a:defRPr>
            </a:pPr>
            <a:r>
              <a:rPr sz="1200" b="1">
                <a:solidFill>
                  <a:srgbClr val="0B8F87"/>
                </a:solidFill>
              </a:rPr>
              <a:t>资源包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682866-A632-447C-B16F-7A8A0339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390" y="2076450"/>
            <a:ext cx="123444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EC62F0-6722-4CA5-97B9-E047E6FF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160" y="1905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CF6D63-8FC4-4183-BF91-E16620C3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260" y="19812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9AF55C-8B22-430B-BEE1-0EEBC743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3640" y="2305050"/>
            <a:ext cx="104394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6BFF"/>
                </a:solidFill>
              </a:defRPr>
            </a:pPr>
            <a:r>
              <a:rPr sz="1200" b="1">
                <a:solidFill>
                  <a:srgbClr val="2F6BFF"/>
                </a:solidFill>
              </a:rPr>
              <a:t>练习题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216EA-76B5-4C6D-9B6B-FAA27F7D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280" y="2076450"/>
            <a:ext cx="123444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F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82D295-B3A9-4D4A-8DFC-0162198E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05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279E8F-70E3-4DE8-8068-EDE392BE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812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A8811A-C300-41B0-BEBA-14A616FA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9530" y="2305050"/>
            <a:ext cx="104394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8F87"/>
                </a:solidFill>
              </a:defRPr>
            </a:pPr>
            <a:r>
              <a:rPr sz="1200" b="1">
                <a:solidFill>
                  <a:srgbClr val="0B8F87"/>
                </a:solidFill>
              </a:rPr>
              <a:t>作答判分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419AE6-1CB8-4793-9E8E-D8F8383C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076450"/>
            <a:ext cx="123444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B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92CA03-2EB7-4937-A8E0-D4698056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5940" y="1905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18C4A1-DCE0-4F23-A012-57891B3E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4040" y="19812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F9C036-54BC-4654-A97D-496DE275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2305050"/>
            <a:ext cx="104394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6BFF"/>
                </a:solidFill>
              </a:defRPr>
            </a:pPr>
            <a:r>
              <a:rPr sz="1200" b="1">
                <a:solidFill>
                  <a:srgbClr val="2F6BFF"/>
                </a:solidFill>
              </a:rPr>
              <a:t>错题沉淀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FB550C-54E0-4B13-A569-2CEA9EF0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060" y="2076450"/>
            <a:ext cx="123444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8F8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04A4F3-7925-4CCA-A49B-6F62AFB9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1830" y="1905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659845-4357-4DB6-A439-65635570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930" y="19812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871994-D39C-4E5D-B022-D64240DB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1310" y="2305050"/>
            <a:ext cx="104394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8F87"/>
                </a:solidFill>
              </a:defRPr>
            </a:pPr>
            <a:r>
              <a:rPr sz="1200" b="1">
                <a:solidFill>
                  <a:srgbClr val="0B8F87"/>
                </a:solidFill>
              </a:rPr>
              <a:t>复习建议</a:t>
            </a:r>
          </a:p>
          <a:p xmlns:a="http://schemas.openxmlformats.org/drawingml/2006/main">
            <a:pPr algn="ctr">
              <a:defRPr sz="1200" b="1">
                <a:solidFill>
                  <a:srgbClr val="0B8F87"/>
                </a:solidFill>
              </a:defRPr>
            </a:pPr>
            <a:r>
              <a:rPr sz="1200" b="1">
                <a:solidFill>
                  <a:srgbClr val="0B8F87"/>
                </a:solidFill>
              </a:rPr>
              <a:t>计划调整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474FE3-F580-4D35-AB1E-ED43E2CD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409575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9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429647-AE47-4F51-8E7E-63CE6F56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43350"/>
            <a:ext cx="3905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2C47"/>
          </a:solidFill>
          <a:ln xmlns:a="http://schemas.openxmlformats.org/drawingml/2006/main" w="0">
            <a:solidFill>
              <a:srgbClr val="0D2C4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9A94A5-F5D9-4D9A-BB73-11B81D0A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29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8E81FC-4A93-4798-AD6C-5C0D0017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29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6BF00F-3069-4796-950B-6AA50D71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29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7B35F9-5AA4-4B5C-B191-16A09567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0050"/>
            <a:ext cx="390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3DF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FA041F-D15E-46D0-A000-303E4F7D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3524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A41111-62A7-4C6E-887F-6CA604AF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95775"/>
            <a:ext cx="329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8F87"/>
                </a:solidFill>
              </a:defRPr>
            </a:pPr>
            <a:r>
              <a:rPr sz="1425" b="1">
                <a:solidFill>
                  <a:srgbClr val="0B8F87"/>
                </a:solidFill>
              </a:rPr>
              <a:t>截图 S11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B84340-7AF4-498E-AAFA-A18689D4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01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2"/>
                </a:solidFill>
              </a:defRPr>
            </a:pPr>
            <a:r>
              <a:rPr sz="975" b="0">
                <a:solidFill>
                  <a:srgbClr val="5B6B82"/>
                </a:solidFill>
              </a:rPr>
              <a:t>题库 / AI 自动出题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F9CF9F-49FA-4C91-8D7D-6F6F3066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48100"/>
            <a:ext cx="409575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9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4134C4-5C8C-4ED6-810A-078871EE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43350"/>
            <a:ext cx="3905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2C47"/>
          </a:solidFill>
          <a:ln xmlns:a="http://schemas.openxmlformats.org/drawingml/2006/main" w="0">
            <a:solidFill>
              <a:srgbClr val="0D2C4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5F53F0-3BE6-40D8-8146-3A7E479D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29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830904-B712-4165-90CF-A7D6D472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29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C4C9315-8BDB-42AA-BCD2-D8D335BA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29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71D0A9-2AA1-459D-A12F-FD4B4B2B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10050"/>
            <a:ext cx="390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3DFE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C77FCB-C76E-4638-A630-3B3A7DF0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71950"/>
            <a:ext cx="3524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ACA3F9-EF42-4DC7-B0D9-2E71F225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295775"/>
            <a:ext cx="3295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8F87"/>
                </a:solidFill>
              </a:defRPr>
            </a:pPr>
            <a:r>
              <a:rPr sz="1425" b="1">
                <a:solidFill>
                  <a:srgbClr val="0B8F87"/>
                </a:solidFill>
              </a:rPr>
              <a:t>截图 S12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BFC01B7-FE0D-4BCD-885F-44D226A4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6101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2"/>
                </a:solidFill>
              </a:defRPr>
            </a:pPr>
            <a:r>
              <a:rPr sz="975" b="0">
                <a:solidFill>
                  <a:srgbClr val="5B6B82"/>
                </a:solidFill>
              </a:rPr>
              <a:t>错题本 / 复盘依据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1C35A9D-C488-4166-A9C0-E774643F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3721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EvaluationAgent 作为后续升级方向；当前项目已有错题与行为数据基础。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094286A-599E-4C62-9173-16727E08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FA779C8-72C7-42F1-8395-B05B3CE4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B82"/>
                </a:solidFill>
              </a:defRPr>
            </a:pPr>
            <a:r>
              <a:rPr sz="825" b="0">
                <a:solidFill>
                  <a:srgbClr val="5B6B82"/>
                </a:solidFill>
              </a:rPr>
              <a:t>AI Study Assistant · 个性化资源生成与学习多智能体系统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F21BC25-2840-4C42-A5F0-6E6B50B6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198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8F87"/>
                </a:solidFill>
              </a:defRPr>
            </a:pPr>
            <a:r>
              <a:rPr sz="825" b="1">
                <a:solidFill>
                  <a:srgbClr val="0B8F87"/>
                </a:solidFill>
              </a:rPr>
              <a:t>14 / 20</a:t>
            </a:r>
          </a:p>
        </p:txBody>
      </p:sp>
    </p:spTree>
    <p:extLst>
      <p:ext uri="{BB962C8B-B14F-4D97-AF65-F5344CB8AC3E}">
        <p14:creationId xmlns:p14="http://schemas.microsoft.com/office/powerpoint/2010/main" val="1467994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FF4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2048CB-1282-4912-86C8-95A81699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2D"/>
          </a:solidFill>
          <a:ln xmlns:a="http://schemas.openxmlformats.org/drawingml/2006/main" w="0">
            <a:solidFill>
              <a:srgbClr val="071B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A8963-6016-40F5-A5E6-010DBCA6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0"/>
            <a:ext cx="2952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47"/>
          </a:solidFill>
          <a:ln xmlns:a="http://schemas.openxmlformats.org/drawingml/2006/main" w="0">
            <a:solidFill>
              <a:srgbClr val="0D2C4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D0E986-34EF-4AEF-A3B0-42ABAB57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76200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5070"/>
          </a:solidFill>
          <a:ln xmlns:a="http://schemas.openxmlformats.org/drawingml/2006/main" w="0">
            <a:solidFill>
              <a:srgbClr val="0E507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717F9-B5D7-40CF-B229-233229AE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621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F71A7F-EAE8-42C6-8199-6B1D256F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工程架构  /  AI STUDY ASSISTANT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9A72BF-9B32-4CE4-99DC-FB30DDFE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工程架构采用前后端分离与 Provider 解耦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25A962-B7DF-406D-8375-1CC1854C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D274C4-FB91-4868-88A6-06C214D1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90500"/>
            <a:ext cx="78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31516C"/>
                </a:solidFill>
              </a:defRPr>
            </a:pPr>
            <a:r>
              <a:rPr sz="3300" b="1">
                <a:solidFill>
                  <a:srgbClr val="31516C"/>
                </a:solidFill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AB6B6F-BF9B-46CB-8C50-8E045554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76400"/>
            <a:ext cx="89916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DDF7F3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7E06D9-6F17-47CA-A4E7-69F8A7BE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790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8F87"/>
                </a:solidFill>
              </a:defRPr>
            </a:pPr>
            <a:r>
              <a:rPr sz="1500" b="1">
                <a:solidFill>
                  <a:srgbClr val="0B8F87"/>
                </a:solidFill>
              </a:rPr>
              <a:t>Frontend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CAFB65-C89F-4104-9114-009A0498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0022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33D"/>
                </a:solidFill>
              </a:defRPr>
            </a:pPr>
            <a:r>
              <a:rPr sz="1275" b="0">
                <a:solidFill>
                  <a:srgbClr val="10233D"/>
                </a:solidFill>
              </a:rPr>
              <a:t>Vue3 · Element Plus · Pinia · Router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4A5CBA-1718-488D-A517-F5394125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24100"/>
            <a:ext cx="89916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4ECFF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EADE4F-DCB1-4CE3-8158-30C0152F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384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6BFF"/>
                </a:solidFill>
              </a:defRPr>
            </a:pPr>
            <a:r>
              <a:rPr sz="1500" b="1">
                <a:solidFill>
                  <a:srgbClr val="2F6BFF"/>
                </a:solidFill>
              </a:rPr>
              <a:t>API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F018FB-C142-4B55-A204-F238B721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4792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33D"/>
                </a:solidFill>
              </a:defRPr>
            </a:pPr>
            <a:r>
              <a:rPr sz="1275" b="0">
                <a:solidFill>
                  <a:srgbClr val="10233D"/>
                </a:solidFill>
              </a:rPr>
              <a:t>Axios · JWT · RESTful Result&lt;T&gt;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0AEBCD-7DF5-43AD-BC66-586E49C3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71800"/>
            <a:ext cx="89916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DDF7F3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742123-8D06-4C7F-B513-88329B65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0861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8F87"/>
                </a:solidFill>
              </a:defRPr>
            </a:pPr>
            <a:r>
              <a:rPr sz="1500" b="1">
                <a:solidFill>
                  <a:srgbClr val="0B8F87"/>
                </a:solidFill>
              </a:rPr>
              <a:t>Backend 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5E5441-B1D8-4AD3-88BE-2487B5D9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9562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33D"/>
                </a:solidFill>
              </a:defRPr>
            </a:pPr>
            <a:r>
              <a:rPr sz="1275" b="0">
                <a:solidFill>
                  <a:srgbClr val="10233D"/>
                </a:solidFill>
              </a:rPr>
              <a:t>Spring Boot 3.5 · Security · MyBatis-Plus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EEC7B7-E361-4EDC-9EF3-50110D5D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19500"/>
            <a:ext cx="89916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4ECFF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B6547E-2219-485C-8CF5-2F247CEA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7338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6BFF"/>
                </a:solidFill>
              </a:defRPr>
            </a:pPr>
            <a:r>
              <a:rPr sz="1500" b="1">
                <a:solidFill>
                  <a:srgbClr val="2F6BFF"/>
                </a:solidFill>
              </a:rPr>
              <a:t>AI Layer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BC08A9-E3FF-4625-8102-DE8607C7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4332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33D"/>
                </a:solidFill>
              </a:defRPr>
            </a:pPr>
            <a:r>
              <a:rPr sz="1275" b="0">
                <a:solidFill>
                  <a:srgbClr val="10233D"/>
                </a:solidFill>
              </a:rPr>
              <a:t>Spring AI ChatClient · Agent Pipeline · RAG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914856-1B07-4336-96C5-0515C4C5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67200"/>
            <a:ext cx="89916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DDF7F3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8038A1-DD6A-444C-A31C-69F97119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3815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8F87"/>
                </a:solidFill>
              </a:defRPr>
            </a:pPr>
            <a:r>
              <a:rPr sz="1500" b="1">
                <a:solidFill>
                  <a:srgbClr val="0B8F87"/>
                </a:solidFill>
              </a:rPr>
              <a:t>Provider Layer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79184D-EFEB-4768-9792-261C50D5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9102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33D"/>
                </a:solidFill>
              </a:defRPr>
            </a:pPr>
            <a:r>
              <a:rPr sz="1275" b="0">
                <a:solidFill>
                  <a:srgbClr val="10233D"/>
                </a:solidFill>
              </a:rPr>
              <a:t>Spark Lite · DashScope Embedding · Xfyun TTS/TTI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8D8095-B749-4189-A266-74A5255E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14900"/>
            <a:ext cx="89916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4ECFF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9D2FE5-5B96-4B32-9299-9BD5D112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292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6BFF"/>
                </a:solidFill>
              </a:defRPr>
            </a:pPr>
            <a:r>
              <a:rPr sz="1500" b="1">
                <a:solidFill>
                  <a:srgbClr val="2F6BFF"/>
                </a:solidFill>
              </a:rPr>
              <a:t>Data &amp; Asset Layer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69B373-65D1-48B8-BF84-A989AF9A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3872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33D"/>
                </a:solidFill>
              </a:defRPr>
            </a:pPr>
            <a:r>
              <a:rPr sz="1275" b="0">
                <a:solidFill>
                  <a:srgbClr val="10233D"/>
                </a:solidFill>
              </a:rPr>
              <a:t>PostgreSQL 16 · pgvector · File Storage · ResourceAsset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9B4DA9-04C1-4637-8EE5-DBA32A6A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CBD993-EDAF-4711-B1FD-E2A76B40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B82"/>
                </a:solidFill>
              </a:defRPr>
            </a:pPr>
            <a:r>
              <a:rPr sz="825" b="0">
                <a:solidFill>
                  <a:srgbClr val="5B6B82"/>
                </a:solidFill>
              </a:rPr>
              <a:t>AI Study Assistant · 个性化资源生成与学习多智能体系统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FA38A6-3225-423F-A912-F92DA192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198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8F87"/>
                </a:solidFill>
              </a:defRPr>
            </a:pPr>
            <a:r>
              <a:rPr sz="825" b="1">
                <a:solidFill>
                  <a:srgbClr val="0B8F87"/>
                </a:solidFill>
              </a:rPr>
              <a:t>15 / 20</a:t>
            </a:r>
          </a:p>
        </p:txBody>
      </p:sp>
    </p:spTree>
    <p:extLst>
      <p:ext uri="{BB962C8B-B14F-4D97-AF65-F5344CB8AC3E}">
        <p14:creationId xmlns:p14="http://schemas.microsoft.com/office/powerpoint/2010/main" val="103730938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FF4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BAF7E7-B51D-44E0-B286-136AA498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2D"/>
          </a:solidFill>
          <a:ln xmlns:a="http://schemas.openxmlformats.org/drawingml/2006/main" w="0">
            <a:solidFill>
              <a:srgbClr val="071B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5821A-6CE7-49B2-96DA-89413A66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0"/>
            <a:ext cx="2952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47"/>
          </a:solidFill>
          <a:ln xmlns:a="http://schemas.openxmlformats.org/drawingml/2006/main" w="0">
            <a:solidFill>
              <a:srgbClr val="0D2C4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DC9B8-98C8-439A-BCDD-1E696090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76200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5070"/>
          </a:solidFill>
          <a:ln xmlns:a="http://schemas.openxmlformats.org/drawingml/2006/main" w="0">
            <a:solidFill>
              <a:srgbClr val="0E507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1278B-EBB3-4CC4-A7C1-09C1842E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621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58DCDE-0D8F-4629-94E9-3FEE03C1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安全可靠  /  AI STUDY ASSISTANT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0E18C-EA4A-4A5A-90AE-88266547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系统不只会生成，还考虑安全、追踪和恢复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854877-3422-4DCC-B0C3-04000139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B27664-7A6D-4CCD-8B47-01E53F9D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90500"/>
            <a:ext cx="78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31516C"/>
                </a:solidFill>
              </a:defRPr>
            </a:pPr>
            <a:r>
              <a:rPr sz="3300" b="1">
                <a:solidFill>
                  <a:srgbClr val="31516C"/>
                </a:solidFill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BDAF46-0F10-47F9-9CC2-D8D37A84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3143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CCB6A-475F-440A-A0C1-6C883160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2405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8146E5-1303-4021-8DC5-319BD4A6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574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33D"/>
                </a:solidFill>
              </a:defRPr>
            </a:pPr>
            <a:r>
              <a:rPr sz="1575" b="1">
                <a:solidFill>
                  <a:srgbClr val="10233D"/>
                </a:solidFill>
              </a:rPr>
              <a:t>模型幻觉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DF1F75-A432-42A4-8D3F-0D68AE8A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268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RAG 约束 + SafetyAgent 校验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0480C-2847-4696-AB10-2D13D02B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90700"/>
            <a:ext cx="3143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7922A8-7613-4DCF-91A4-8B65384D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2405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214A75-A144-4301-99E2-9DC2E9D1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574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33D"/>
                </a:solidFill>
              </a:defRPr>
            </a:pPr>
            <a:r>
              <a:rPr sz="1575" b="1">
                <a:solidFill>
                  <a:srgbClr val="10233D"/>
                </a:solidFill>
              </a:rPr>
              <a:t>内容违规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C3CC69-330A-4A9B-AC25-DCCA10AB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81250"/>
            <a:ext cx="268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Prompt 约束 + 错误映射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56A887-661D-4BA5-86C4-A18EC84D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90700"/>
            <a:ext cx="3143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502865-C2BD-4A42-8FE9-D4571F62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2405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A60C01-6DFA-4E45-A91C-CF7DEB4C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33D"/>
                </a:solidFill>
              </a:defRPr>
            </a:pPr>
            <a:r>
              <a:rPr sz="1575" b="1">
                <a:solidFill>
                  <a:srgbClr val="10233D"/>
                </a:solidFill>
              </a:rPr>
              <a:t>多模态失败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9A4F49-5C8D-4240-96A1-5DB2B1F4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268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资产状态机 + 重试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B9C447-E44C-4EAB-A3C8-46697D16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3143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2562E0-6657-4F60-A2EB-37CB1DB1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7665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347F56-5904-4F35-900B-4D59F2BD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100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33D"/>
                </a:solidFill>
              </a:defRPr>
            </a:pPr>
            <a:r>
              <a:rPr sz="1575" b="1">
                <a:solidFill>
                  <a:srgbClr val="10233D"/>
                </a:solidFill>
              </a:rPr>
              <a:t>长任务等待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6031D5-08FE-408B-9864-D2FE5859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33850"/>
            <a:ext cx="268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异步任务 + Agent Timeline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AAFBD8-B99B-41C7-9C24-D88D90E7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43300"/>
            <a:ext cx="3143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8A91C1-42F2-4384-ACE5-F1E65932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7665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E73751-F4DE-4F11-91F6-BC69EE74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100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33D"/>
                </a:solidFill>
              </a:defRPr>
            </a:pPr>
            <a:r>
              <a:rPr sz="1575" b="1">
                <a:solidFill>
                  <a:srgbClr val="10233D"/>
                </a:solidFill>
              </a:rPr>
              <a:t>密钥泄露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A301BF-843B-4A53-AE4F-507B0DED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33850"/>
            <a:ext cx="268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后端 Provider 调用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034D3C-FE2A-4237-8B07-F8F91CCF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43300"/>
            <a:ext cx="3143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1D8C6C-0271-4D9F-8307-9A97A66F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7665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3699E3-736C-4B9E-A364-B336E79B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100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33D"/>
                </a:solidFill>
              </a:defRPr>
            </a:pPr>
            <a:r>
              <a:rPr sz="1575" b="1">
                <a:solidFill>
                  <a:srgbClr val="10233D"/>
                </a:solidFill>
              </a:rPr>
              <a:t>文件风险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876639-4E6D-4FAF-A361-97449FE7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33850"/>
            <a:ext cx="2686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类型校验 + 下载鉴权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D04181-00DF-4DED-94F7-CB9C0856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959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8F87"/>
                </a:solidFill>
              </a:defRPr>
            </a:pPr>
            <a:r>
              <a:rPr sz="1500" b="1">
                <a:solidFill>
                  <a:srgbClr val="0B8F87"/>
                </a:solidFill>
              </a:rPr>
              <a:t>关键词：可追踪、可恢复、密钥不下发、失败不拖垮主资源包。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2AFD99-DD83-4222-8431-75E5BCE4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B188F2-8229-46F7-9B78-E7A772CA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B82"/>
                </a:solidFill>
              </a:defRPr>
            </a:pPr>
            <a:r>
              <a:rPr sz="825" b="0">
                <a:solidFill>
                  <a:srgbClr val="5B6B82"/>
                </a:solidFill>
              </a:rPr>
              <a:t>AI Study Assistant · 个性化资源生成与学习多智能体系统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428911-F8B3-4A89-8178-7F048A3D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198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8F87"/>
                </a:solidFill>
              </a:defRPr>
            </a:pPr>
            <a:r>
              <a:rPr sz="825" b="1">
                <a:solidFill>
                  <a:srgbClr val="0B8F87"/>
                </a:solidFill>
              </a:rPr>
              <a:t>16 / 20</a:t>
            </a:r>
          </a:p>
        </p:txBody>
      </p:sp>
    </p:spTree>
    <p:extLst>
      <p:ext uri="{BB962C8B-B14F-4D97-AF65-F5344CB8AC3E}">
        <p14:creationId xmlns:p14="http://schemas.microsoft.com/office/powerpoint/2010/main" val="204748365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FF4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4DC7B9-CAA8-4F04-AEA7-F52A8F2F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2D"/>
          </a:solidFill>
          <a:ln xmlns:a="http://schemas.openxmlformats.org/drawingml/2006/main" w="0">
            <a:solidFill>
              <a:srgbClr val="071B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8E8C4-AFB5-4198-9B3F-0AB0EB20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0"/>
            <a:ext cx="2952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47"/>
          </a:solidFill>
          <a:ln xmlns:a="http://schemas.openxmlformats.org/drawingml/2006/main" w="0">
            <a:solidFill>
              <a:srgbClr val="0D2C4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5E397-BDFA-4781-99EA-BA16DB42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76200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5070"/>
          </a:solidFill>
          <a:ln xmlns:a="http://schemas.openxmlformats.org/drawingml/2006/main" w="0">
            <a:solidFill>
              <a:srgbClr val="0E507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53FE9-64DB-4EDC-8608-9825AE6B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621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7C3E5A-FE04-4E7F-B9FF-205B194F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创新价值  /  AI STUDY ASSISTANT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29813-48D8-494F-85F5-C63595DC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四个创新点直接对应 A3 评分重点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0F858-26A0-42C2-9337-71DC41C9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78D459-64F1-481B-9CE5-D398C0BB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90500"/>
            <a:ext cx="78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31516C"/>
                </a:solidFill>
              </a:defRPr>
            </a:pPr>
            <a:r>
              <a:rPr sz="3300" b="1">
                <a:solidFill>
                  <a:srgbClr val="31516C"/>
                </a:solidFill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FC3A89-22E1-4494-930A-4CE8C8A7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447675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64E28A-21E7-49DA-AAA3-01804836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4310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449E52-979B-46D9-B881-C214A04A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81200"/>
            <a:ext cx="876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7F3"/>
          </a:solidFill>
          <a:ln xmlns:a="http://schemas.openxmlformats.org/drawingml/2006/main" w="0">
            <a:solidFill>
              <a:srgbClr val="DDF7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8C363-E4EF-4EB6-A355-CA392852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383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8F87"/>
                </a:solidFill>
              </a:defRPr>
            </a:pPr>
            <a:r>
              <a:rPr sz="975" b="1">
                <a:solidFill>
                  <a:srgbClr val="0B8F87"/>
                </a:solidFill>
              </a:rPr>
              <a:t>创新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3501BB-434A-47CC-94AD-93C0C200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6220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渐进式多 Agent 改造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74127B-53E6-4FD3-B8DC-2581F7CE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2415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保留稳定 Service，用 Orchestrator + Specialist Agents 实现协同。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348ABB-3E21-4D6E-9232-44447836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47675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393A48-EDC7-41FF-AA92-4B2AE4F2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4310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448293-ECFC-4FF3-B54F-220915E9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81200"/>
            <a:ext cx="876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CFF"/>
          </a:solidFill>
          <a:ln xmlns:a="http://schemas.openxmlformats.org/drawingml/2006/main" w="0">
            <a:solidFill>
              <a:srgbClr val="E4EC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B36818-C40B-4A05-B3F7-5FA27227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383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BFF"/>
                </a:solidFill>
              </a:defRPr>
            </a:pPr>
            <a:r>
              <a:rPr sz="975" b="1">
                <a:solidFill>
                  <a:srgbClr val="2F6BFF"/>
                </a:solidFill>
              </a:rPr>
              <a:t>创新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FD8754-5025-4447-BDB4-B1813788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6220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个性化资源包生成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989FDD-AC49-4FF5-A82A-37648775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15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一次交付文档、导图、题库、路径和多模态资源。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35C132-06D7-4EC1-860A-5413857F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447675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539D69-415D-43BD-A575-87675C31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4F2D9E-2071-49A9-BC6C-9047FE20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90950"/>
            <a:ext cx="876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7F3"/>
          </a:solidFill>
          <a:ln xmlns:a="http://schemas.openxmlformats.org/drawingml/2006/main" w="0">
            <a:solidFill>
              <a:srgbClr val="DDF7F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1361BB-ABCF-4F9C-89ED-2038B4C5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48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8F87"/>
                </a:solidFill>
              </a:defRPr>
            </a:pPr>
            <a:r>
              <a:rPr sz="975" b="1">
                <a:solidFill>
                  <a:srgbClr val="0B8F87"/>
                </a:solidFill>
              </a:rPr>
              <a:t>创新 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3A30B4-C8C7-479C-ABB4-F6BCF7B9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7195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讯飞多模态增强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B4204B-F6FA-47DB-86D0-F4707EFA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3390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TTS 与文生图把资源扩展为可听、可看的学习资产。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55ABFC-E1F4-4976-97F5-45719D46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447675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2E0A16-E71A-4CD7-9C90-F543CEC9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285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3FA1F5-3C66-46AC-AAF9-0C8AE4A7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90950"/>
            <a:ext cx="876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CFF"/>
          </a:solidFill>
          <a:ln xmlns:a="http://schemas.openxmlformats.org/drawingml/2006/main" w="0">
            <a:solidFill>
              <a:srgbClr val="E4EC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FBEF9F-F7CF-4E5F-ADB2-A9D8B66A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48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F6BFF"/>
                </a:solidFill>
              </a:defRPr>
            </a:pPr>
            <a:r>
              <a:rPr sz="975" b="1">
                <a:solidFill>
                  <a:srgbClr val="2F6BFF"/>
                </a:solidFill>
              </a:rPr>
              <a:t>创新 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EC530D-9EC5-4A1F-AAA3-81ECA9CF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7195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学习闭环设计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CE38B6-3454-4F35-B398-29A3DC25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33900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6B82"/>
                </a:solidFill>
              </a:defRPr>
            </a:pPr>
            <a:r>
              <a:rPr sz="1200" b="0">
                <a:solidFill>
                  <a:srgbClr val="5B6B82"/>
                </a:solidFill>
              </a:rPr>
              <a:t>资料、问答、出题、计划、错题和推荐形成连续学习链路。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38BE16-7177-49DC-B453-9FD94D79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C1E3D5-A26D-4EA4-9538-E6608BAB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B82"/>
                </a:solidFill>
              </a:defRPr>
            </a:pPr>
            <a:r>
              <a:rPr sz="825" b="0">
                <a:solidFill>
                  <a:srgbClr val="5B6B82"/>
                </a:solidFill>
              </a:rPr>
              <a:t>AI Study Assistant · 个性化资源生成与学习多智能体系统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DE5800-2924-4FF3-99A7-7F8014AE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198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8F87"/>
                </a:solidFill>
              </a:defRPr>
            </a:pPr>
            <a:r>
              <a:rPr sz="825" b="1">
                <a:solidFill>
                  <a:srgbClr val="0B8F87"/>
                </a:solidFill>
              </a:rPr>
              <a:t>17 / 20</a:t>
            </a:r>
          </a:p>
        </p:txBody>
      </p:sp>
    </p:spTree>
    <p:extLst>
      <p:ext uri="{BB962C8B-B14F-4D97-AF65-F5344CB8AC3E}">
        <p14:creationId xmlns:p14="http://schemas.microsoft.com/office/powerpoint/2010/main" val="57933650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EFF4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2161B67-C62E-41FA-810D-8B853657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2D"/>
          </a:solidFill>
          <a:ln xmlns:a="http://schemas.openxmlformats.org/drawingml/2006/main" w="0">
            <a:solidFill>
              <a:srgbClr val="071B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A7B8E-E6F5-4BB8-A006-4F211EC4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0"/>
            <a:ext cx="2952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47"/>
          </a:solidFill>
          <a:ln xmlns:a="http://schemas.openxmlformats.org/drawingml/2006/main" w="0">
            <a:solidFill>
              <a:srgbClr val="0D2C4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A4D0C-D3F1-4319-B8E9-521BBAFE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76200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5070"/>
          </a:solidFill>
          <a:ln xmlns:a="http://schemas.openxmlformats.org/drawingml/2006/main" w="0">
            <a:solidFill>
              <a:srgbClr val="0E507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E61E5-0763-4E28-BE8C-E191F49C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621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263EA1-134F-4094-A5EE-DDB19BC4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完成度  /  AI STUDY ASSISTANT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6F72A-396D-487A-B2F1-DDDF9DE0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当前版本已从 Demo 走向可运行系统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1928F-783B-4423-8EC0-BB480DBF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42788E-D232-4BAB-B505-16B32DA9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90500"/>
            <a:ext cx="78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31516C"/>
                </a:solidFill>
              </a:defRPr>
            </a:pPr>
            <a:r>
              <a:rPr sz="3300" b="1">
                <a:solidFill>
                  <a:srgbClr val="31516C"/>
                </a:solidFill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468D3C-54B2-4A1E-9EA1-34F89B09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3143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DF7F3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1E2C03-A638-40F2-9AC0-2AE3CE41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0500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A1A279-54A6-4A69-B916-A81148EC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8F87"/>
                </a:solidFill>
              </a:defRPr>
            </a:pPr>
            <a:r>
              <a:rPr sz="1500" b="1">
                <a:solidFill>
                  <a:srgbClr val="0B8F87"/>
                </a:solidFill>
              </a:rPr>
              <a:t>前端构建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D00518-86A9-4A33-B822-FBCCB379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33D"/>
                </a:solidFill>
              </a:defRPr>
            </a:pPr>
            <a:r>
              <a:rPr sz="1350" b="0">
                <a:solidFill>
                  <a:srgbClr val="10233D"/>
                </a:solidFill>
              </a:rPr>
              <a:t>通过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FC39B9-3A40-4540-B67E-1430E435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71650"/>
            <a:ext cx="3143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4ECFF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185175-AADE-4770-9A0B-8063B737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0500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334039-DF4F-4E35-B9A1-6DDCC2DC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383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6BFF"/>
                </a:solidFill>
              </a:defRPr>
            </a:pPr>
            <a:r>
              <a:rPr sz="1500" b="1">
                <a:solidFill>
                  <a:srgbClr val="2F6BFF"/>
                </a:solidFill>
              </a:rPr>
              <a:t>资源工坊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D0839B-2032-40E2-BA30-74C931E7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622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33D"/>
                </a:solidFill>
              </a:defRPr>
            </a:pPr>
            <a:r>
              <a:rPr sz="1350" b="0">
                <a:solidFill>
                  <a:srgbClr val="10233D"/>
                </a:solidFill>
              </a:rPr>
              <a:t>可演示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12D136-BB15-4D37-A009-3A732E45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71650"/>
            <a:ext cx="3143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DF7F3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9A0850-81F1-48C4-B60F-22494050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0500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F89156-859D-412D-BDDF-A1AD2E2B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383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8F87"/>
                </a:solidFill>
              </a:defRPr>
            </a:pPr>
            <a:r>
              <a:rPr sz="1500" b="1">
                <a:solidFill>
                  <a:srgbClr val="0B8F87"/>
                </a:solidFill>
              </a:rPr>
              <a:t>Agent Trace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FF8F29-9AE0-4D93-B4BC-477C5760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622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33D"/>
                </a:solidFill>
              </a:defRPr>
            </a:pPr>
            <a:r>
              <a:rPr sz="1350" b="0">
                <a:solidFill>
                  <a:srgbClr val="10233D"/>
                </a:solidFill>
              </a:rPr>
              <a:t>已接入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357D59-B422-40AC-9764-F0C15AAF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3143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041805-456A-41EB-B683-34CBD5D5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5755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F4C83F-C2CD-46E3-B87D-4C5333C8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909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TTS / 文生图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69B4EB-0D4C-4DFA-8C78-62EA6B15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1475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33D"/>
                </a:solidFill>
              </a:defRPr>
            </a:pPr>
            <a:r>
              <a:rPr sz="1350" b="0">
                <a:solidFill>
                  <a:srgbClr val="10233D"/>
                </a:solidFill>
              </a:rPr>
              <a:t>Provider 接入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59F869-823F-49CA-BA03-D05B2EFA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24200"/>
            <a:ext cx="3143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4ECFF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93DA53-C733-43A8-B674-84AC2AFF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5755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solidFill>
              <a:srgbClr val="2F6B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C5A0A4-92FA-4C99-B4D1-C5F7B4ED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909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F6BFF"/>
                </a:solidFill>
              </a:defRPr>
            </a:pPr>
            <a:r>
              <a:rPr sz="1500" b="1">
                <a:solidFill>
                  <a:srgbClr val="2F6BFF"/>
                </a:solidFill>
              </a:rPr>
              <a:t>配置分层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94B8FE-F1FF-4DDE-8FC0-5029EFFC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71475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33D"/>
                </a:solidFill>
              </a:defRPr>
            </a:pPr>
            <a:r>
              <a:rPr sz="1350" b="0">
                <a:solidFill>
                  <a:srgbClr val="10233D"/>
                </a:solidFill>
              </a:rPr>
              <a:t>dev/test/prod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6E3E3C-8C9D-4EBA-9502-F346B67C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24200"/>
            <a:ext cx="3143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DF7F3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E8D268-0DC4-4FCC-BFBF-DDC5A102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57550"/>
            <a:ext cx="5143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446767-5A17-42B5-8FA3-A239B847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909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8F87"/>
                </a:solidFill>
              </a:defRPr>
            </a:pPr>
            <a:r>
              <a:rPr sz="1500" b="1">
                <a:solidFill>
                  <a:srgbClr val="0B8F87"/>
                </a:solidFill>
              </a:rPr>
              <a:t>资产闭环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FCC38C-CC60-49DE-B936-A2E09D74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33D"/>
                </a:solidFill>
              </a:defRPr>
            </a:pPr>
            <a:r>
              <a:rPr sz="1350" b="0">
                <a:solidFill>
                  <a:srgbClr val="10233D"/>
                </a:solidFill>
              </a:rPr>
              <a:t>播放/预览/下载/重试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0F6C3B-14EE-40C1-81FF-E2183724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81550"/>
            <a:ext cx="6286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9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8EAC4C-53EF-415E-B9EB-FA36514C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76800"/>
            <a:ext cx="6096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2C47"/>
          </a:solidFill>
          <a:ln xmlns:a="http://schemas.openxmlformats.org/drawingml/2006/main" w="0">
            <a:solidFill>
              <a:srgbClr val="0D2C4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95DD0A-F93F-4F41-B673-EF2D5DDA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962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6E2581-818C-437B-9A34-61D43D66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62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7E446A-39CF-4846-A6CB-891DBAA2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962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537EEE-A857-4195-A336-04685537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43500"/>
            <a:ext cx="609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3DFE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183168-C22D-4A44-A6C9-D137CA20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91075"/>
            <a:ext cx="5715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CFF8B4F-B624-4AF3-A48C-CCFBC297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914900"/>
            <a:ext cx="548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8F87"/>
                </a:solidFill>
              </a:defRPr>
            </a:pPr>
            <a:r>
              <a:rPr sz="1425" b="1">
                <a:solidFill>
                  <a:srgbClr val="0B8F87"/>
                </a:solidFill>
              </a:rPr>
              <a:t>截图 S14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179446-4233-4C69-990E-FE76BECA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229225"/>
            <a:ext cx="537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2"/>
                </a:solidFill>
              </a:defRPr>
            </a:pPr>
            <a:r>
              <a:rPr sz="975" b="0">
                <a:solidFill>
                  <a:srgbClr val="5B6B82"/>
                </a:solidFill>
              </a:rPr>
              <a:t>Maven / 前端构建 / 测试通过截图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403BD2-5B52-49DD-89E8-5D64AE72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87C763-BD60-494D-B268-E85BADA5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B82"/>
                </a:solidFill>
              </a:defRPr>
            </a:pPr>
            <a:r>
              <a:rPr sz="825" b="0">
                <a:solidFill>
                  <a:srgbClr val="5B6B82"/>
                </a:solidFill>
              </a:rPr>
              <a:t>AI Study Assistant · 个性化资源生成与学习多智能体系统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79C164-C9A6-4D97-A820-DA52308C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198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8F87"/>
                </a:solidFill>
              </a:defRPr>
            </a:pPr>
            <a:r>
              <a:rPr sz="825" b="1">
                <a:solidFill>
                  <a:srgbClr val="0B8F87"/>
                </a:solidFill>
              </a:rPr>
              <a:t>18 / 20</a:t>
            </a:r>
          </a:p>
        </p:txBody>
      </p:sp>
    </p:spTree>
    <p:extLst>
      <p:ext uri="{BB962C8B-B14F-4D97-AF65-F5344CB8AC3E}">
        <p14:creationId xmlns:p14="http://schemas.microsoft.com/office/powerpoint/2010/main" val="113858821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EFF4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DE0E815-728F-476E-8A62-BF105A80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2D"/>
          </a:solidFill>
          <a:ln xmlns:a="http://schemas.openxmlformats.org/drawingml/2006/main" w="0">
            <a:solidFill>
              <a:srgbClr val="071B2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B22F9-61C3-4924-919C-DB8BFD63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0"/>
            <a:ext cx="2952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47"/>
          </a:solidFill>
          <a:ln xmlns:a="http://schemas.openxmlformats.org/drawingml/2006/main" w="0">
            <a:solidFill>
              <a:srgbClr val="0D2C4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4C93C-C8C5-4F69-B32F-BCB1B456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76200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5070"/>
          </a:solidFill>
          <a:ln xmlns:a="http://schemas.openxmlformats.org/drawingml/2006/main" w="0">
            <a:solidFill>
              <a:srgbClr val="0E507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FE7FA-57F3-4429-A26D-518EEB1A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621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97121-A94E-48C0-83CE-325735A6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演示路线  /  AI STUDY ASSISTANT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BC70DC-7D93-4329-BC4D-7BB8D464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7 分钟演示路线让评委看到完整闭环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DEFB6-D558-4E3C-94FF-A34C407B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907F9-EAE4-4877-B8B2-57FFD15C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90500"/>
            <a:ext cx="781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300" b="1">
                <a:solidFill>
                  <a:srgbClr val="31516C"/>
                </a:solidFill>
              </a:defRPr>
            </a:pPr>
            <a:r>
              <a:rPr sz="3300" b="1">
                <a:solidFill>
                  <a:srgbClr val="31516C"/>
                </a:solidFill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ACA76-994F-4208-AEC6-1BD5D5A2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2192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DDF7F3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14A02C-F8A4-462C-81E4-C2F9DFB3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8F87"/>
                </a:solidFill>
              </a:defRPr>
            </a:pPr>
            <a:r>
              <a:rPr sz="1350" b="1">
                <a:solidFill>
                  <a:srgbClr val="0B8F87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DF44A8-A4FF-46D8-8D51-CCDBD36F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955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33D"/>
                </a:solidFill>
              </a:defRPr>
            </a:pPr>
            <a:r>
              <a:rPr sz="1125" b="1">
                <a:solidFill>
                  <a:srgbClr val="10233D"/>
                </a:solidFill>
              </a:rPr>
              <a:t>首页入口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7BCC4A-94C5-4EB9-8222-411DC5C6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400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6B82"/>
                </a:solidFill>
              </a:defRPr>
            </a:pPr>
            <a:r>
              <a:rPr sz="1800" b="1">
                <a:solidFill>
                  <a:srgbClr val="5B6B82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5B2729-9F06-4269-9148-DAAC1DD6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95500"/>
            <a:ext cx="12192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4ECFF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C570F3-E6CE-4182-BC12-3580A1F9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098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342B1B-823B-4C9B-9B24-9925CCBD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955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33D"/>
                </a:solidFill>
              </a:defRPr>
            </a:pPr>
            <a:r>
              <a:rPr sz="1125" b="1">
                <a:solidFill>
                  <a:srgbClr val="10233D"/>
                </a:solidFill>
              </a:rPr>
              <a:t>选择资料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B3E09E-A073-4FE7-979C-2FA7C07F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00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6B82"/>
                </a:solidFill>
              </a:defRPr>
            </a:pPr>
            <a:r>
              <a:rPr sz="1800" b="1">
                <a:solidFill>
                  <a:srgbClr val="5B6B82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C555BE-BC56-402F-B5F3-03E68AA4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95500"/>
            <a:ext cx="12192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DDF7F3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092892-7165-4858-AAF0-F71021FC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2098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8F87"/>
                </a:solidFill>
              </a:defRPr>
            </a:pPr>
            <a:r>
              <a:rPr sz="1350" b="1">
                <a:solidFill>
                  <a:srgbClr val="0B8F87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F359A1-302D-4A5E-A8CE-02773F4B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4955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33D"/>
                </a:solidFill>
              </a:defRPr>
            </a:pPr>
            <a:r>
              <a:rPr sz="1125" b="1">
                <a:solidFill>
                  <a:srgbClr val="10233D"/>
                </a:solidFill>
              </a:rPr>
              <a:t>资源工坊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14CEEC-8327-43D9-BCB5-ABE6F4FA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00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6B82"/>
                </a:solidFill>
              </a:defRPr>
            </a:pPr>
            <a:r>
              <a:rPr sz="1800" b="1">
                <a:solidFill>
                  <a:srgbClr val="5B6B82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008447-438B-4AE6-B3BC-D799BC05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95500"/>
            <a:ext cx="12192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4ECFF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0A1611-2519-430D-8A75-7D1DFCD7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098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FB1967-EC3A-4F27-B634-11976FE6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955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33D"/>
                </a:solidFill>
              </a:defRPr>
            </a:pPr>
            <a:r>
              <a:rPr sz="1125" b="1">
                <a:solidFill>
                  <a:srgbClr val="10233D"/>
                </a:solidFill>
              </a:rPr>
              <a:t>Agent 进度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185E23-6741-4826-B0DB-739C6723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00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6B82"/>
                </a:solidFill>
              </a:defRPr>
            </a:pPr>
            <a:r>
              <a:rPr sz="1800" b="1">
                <a:solidFill>
                  <a:srgbClr val="5B6B82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13CBFC-B5F8-4316-A80B-74AADAF0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95500"/>
            <a:ext cx="12192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DDF7F3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034E73-3F28-493F-91B3-05C8E775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098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8F87"/>
                </a:solidFill>
              </a:defRPr>
            </a:pPr>
            <a:r>
              <a:rPr sz="1350" b="1">
                <a:solidFill>
                  <a:srgbClr val="0B8F87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F2629D-4449-409F-A809-0E7483A1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955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33D"/>
                </a:solidFill>
              </a:defRPr>
            </a:pPr>
            <a:r>
              <a:rPr sz="1125" b="1">
                <a:solidFill>
                  <a:srgbClr val="10233D"/>
                </a:solidFill>
              </a:rPr>
              <a:t>资源包结果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7DD330-8377-4BFA-8FF1-3043161E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0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6B82"/>
                </a:solidFill>
              </a:defRPr>
            </a:pPr>
            <a:r>
              <a:rPr sz="1800" b="1">
                <a:solidFill>
                  <a:srgbClr val="5B6B82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E29F7B-2F6F-48E7-8847-886B1BC9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95500"/>
            <a:ext cx="12192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4ECFF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DA37DC-8027-4F53-9C77-D31B6FEB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098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67B65C-732F-43C6-9E2B-CBF70EA4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955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33D"/>
                </a:solidFill>
              </a:defRPr>
            </a:pPr>
            <a:r>
              <a:rPr sz="1125" b="1">
                <a:solidFill>
                  <a:srgbClr val="10233D"/>
                </a:solidFill>
              </a:rPr>
              <a:t>音频/配图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154332-BC2F-4C10-B0FC-CBBF950A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00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6B82"/>
                </a:solidFill>
              </a:defRPr>
            </a:pPr>
            <a:r>
              <a:rPr sz="1800" b="1">
                <a:solidFill>
                  <a:srgbClr val="5B6B82"/>
                </a:solidFill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200037-E72C-4E79-B381-748E66A3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095500"/>
            <a:ext cx="12192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DDF7F3"/>
          </a:solidFill>
          <a:ln xmlns:a="http://schemas.openxmlformats.org/drawingml/2006/main" w="9525">
            <a:solidFill>
              <a:srgbClr val="BBD8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0F3048-9823-4FBD-9F0A-9778C004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2098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8F87"/>
                </a:solidFill>
              </a:defRPr>
            </a:pPr>
            <a:r>
              <a:rPr sz="1350" b="1">
                <a:solidFill>
                  <a:srgbClr val="0B8F87"/>
                </a:solidFill>
              </a:rPr>
              <a:t>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84A79D-6695-428C-A1CA-C50117C2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955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33D"/>
                </a:solidFill>
              </a:defRPr>
            </a:pPr>
            <a:r>
              <a:rPr sz="1125" b="1">
                <a:solidFill>
                  <a:srgbClr val="10233D"/>
                </a:solidFill>
              </a:rPr>
              <a:t>问答或错题复盘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BB001E-8418-4D49-A7E8-CC51EC6F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790950"/>
            <a:ext cx="88392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9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35CE37-F2CC-4724-9594-6655D745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886200"/>
            <a:ext cx="8648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2C47"/>
          </a:solidFill>
          <a:ln xmlns:a="http://schemas.openxmlformats.org/drawingml/2006/main" w="0">
            <a:solidFill>
              <a:srgbClr val="0D2C4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BF9E72-D171-42CE-B176-DB1AB155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71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165FEF-AAFC-4BBE-B964-BF2546BB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971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6688EA-0C06-4AE8-83DA-FE17F1B1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971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87"/>
          </a:solidFill>
          <a:ln xmlns:a="http://schemas.openxmlformats.org/drawingml/2006/main" w="0">
            <a:solidFill>
              <a:srgbClr val="0B8F8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804FCE-7622-4553-B147-EE63CD59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52900"/>
            <a:ext cx="8648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3DF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5B44D3-B269-46F7-A04E-A12C50A3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076700"/>
            <a:ext cx="82677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73A4D2-06E6-42F4-8C4A-1E5DC074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200525"/>
            <a:ext cx="803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8F87"/>
                </a:solidFill>
              </a:defRPr>
            </a:pPr>
            <a:r>
              <a:rPr sz="1425" b="1">
                <a:solidFill>
                  <a:srgbClr val="0B8F87"/>
                </a:solidFill>
              </a:rPr>
              <a:t>截图缩略图组合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896A09-90A9-40CE-B8A3-7EAEFA54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514850"/>
            <a:ext cx="792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2"/>
                </a:solidFill>
              </a:defRPr>
            </a:pPr>
            <a:r>
              <a:rPr sz="975" b="0">
                <a:solidFill>
                  <a:srgbClr val="5B6B82"/>
                </a:solidFill>
              </a:rPr>
              <a:t>S1 / S5 / S6 / S7 / S9 / S10 / S4 或 S12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ACC5AE9-3988-4300-AC24-8200E268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3911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8F87"/>
                </a:solidFill>
              </a:defRPr>
            </a:pPr>
            <a:r>
              <a:rPr sz="1425" b="1">
                <a:solidFill>
                  <a:srgbClr val="0B8F87"/>
                </a:solidFill>
              </a:rPr>
              <a:t>建议录屏顺序：先证明首页入口有效，再展示资源生成，最后回到学习闭环。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67910CE-CB8F-41F7-A3AC-6A34DBB9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 w="0">
            <a:solidFill>
              <a:srgbClr val="D7E1E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D5489AC-0FEB-48DE-A702-30DF8831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B6B82"/>
                </a:solidFill>
              </a:defRPr>
            </a:pPr>
            <a:r>
              <a:rPr sz="825" b="0">
                <a:solidFill>
                  <a:srgbClr val="5B6B82"/>
                </a:solidFill>
              </a:rPr>
              <a:t>AI Study Assistant · 个性化资源生成与学习多智能体系统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55F8D1D-4F26-458B-A634-2F6BDA5F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4198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B8F87"/>
                </a:solidFill>
              </a:defRPr>
            </a:pPr>
            <a:r>
              <a:rPr sz="825" b="1">
                <a:solidFill>
                  <a:srgbClr val="0B8F87"/>
                </a:solidFill>
              </a:rPr>
              <a:t>19 / 20</a:t>
            </a:r>
          </a:p>
        </p:txBody>
      </p:sp>
    </p:spTree>
    <p:extLst>
      <p:ext uri="{BB962C8B-B14F-4D97-AF65-F5344CB8AC3E}">
        <p14:creationId xmlns:p14="http://schemas.microsoft.com/office/powerpoint/2010/main" val="76469160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7c24e6f8dc411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5F783-F91F-451D-B681-2DE482C0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2D"/>
          </a:solidFill>
          <a:ln xmlns:a="http://schemas.openxmlformats.org/drawingml/2006/main" w="0">
            <a:solidFill>
              <a:srgbClr val="071B2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35042-EAFD-46A7-8936-65457EB0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2D3EE"/>
                </a:solidFill>
              </a:defRPr>
            </a:pPr>
            <a:r>
              <a:rPr sz="975" b="1">
                <a:solidFill>
                  <a:srgbClr val="22D3EE"/>
                </a:solidFill>
              </a:rPr>
              <a:t>价值收束  /  AI STUDY ASSISTANT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15113-F9E8-41A0-850D-E91534CE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75521-4BC1-48B3-A285-0B0BFB16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5715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让每个学生拥有自己的</a:t>
            </a:r>
          </a:p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课程资源生产线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E9B54-B7AC-4853-8F67-495A3B7F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D3EE"/>
                </a:solidFill>
              </a:defRPr>
            </a:pPr>
            <a:r>
              <a:rPr sz="1350" b="1">
                <a:solidFill>
                  <a:srgbClr val="22D3EE"/>
                </a:solidFill>
              </a:rPr>
              <a:t>当前版本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6B3087-D67B-4C9F-9781-EFDAAE88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542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6DBEA"/>
                </a:solidFill>
              </a:defRPr>
            </a:pPr>
            <a:r>
              <a:rPr sz="1500" b="0">
                <a:solidFill>
                  <a:srgbClr val="C6DBEA"/>
                </a:solidFill>
              </a:rPr>
              <a:t>课程资料 + 学习画像 → 多 Agent 编排 → 文档、题库、路径、音频与配图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EB07E4-B448-47EC-BAFD-C01F7F9D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D38A"/>
                </a:solidFill>
              </a:defRPr>
            </a:pPr>
            <a:r>
              <a:rPr sz="1350" b="1">
                <a:solidFill>
                  <a:srgbClr val="FFD38A"/>
                </a:solidFill>
              </a:rPr>
              <a:t>下一阶段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ED6F43-E3A8-4CB9-925F-74CE7AFD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6DBEA"/>
                </a:solidFill>
              </a:defRPr>
            </a:pPr>
            <a:r>
              <a:rPr sz="1425" b="0">
                <a:solidFill>
                  <a:srgbClr val="C6DBEA"/>
                </a:solidFill>
              </a:rPr>
              <a:t>增强评估与推荐，继续扩展教育大模型、智能 PPT 与虚拟人讲解。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6BD92B-7A32-47AA-981A-9998AD35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从回答问题，到生成适合每个学生的学习资源体系。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887B6D-60C7-450C-ADBF-684DF127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3627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20 / 20</a:t>
            </a:r>
          </a:p>
        </p:txBody>
      </p:sp>
    </p:spTree>
    <p:extLst>
      <p:ext uri="{BB962C8B-B14F-4D97-AF65-F5344CB8AC3E}">
        <p14:creationId xmlns:p14="http://schemas.microsoft.com/office/powerpoint/2010/main" val="12217237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2026-07-18T11:55:43.7670000Z</dcterms:created>
  <dcterms:modified xsi:type="dcterms:W3CDTF">2026-07-18T11:55:43.7670000Z</dcterms:modified>
</coreProperties>
</file>