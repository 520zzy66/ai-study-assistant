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0fcc6e5d2e442b" /><Relationship Type="http://schemas.openxmlformats.org/officeDocument/2006/relationships/extended-properties" Target="/docProps/app.xml" Id="R0cdf2876118a4492" /><Relationship Type="http://schemas.openxmlformats.org/officeDocument/2006/relationships/officeDocument" Target="/ppt/presentation.xml" Id="Rd6899a955afa42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796076c2f842ac"/>
  </p:sldMasterIdLst>
  <p:notesMasterIdLst>
    <p:notesMasterId xmlns:r="http://schemas.openxmlformats.org/officeDocument/2006/relationships" r:id="R923b12242aed4c4d"/>
  </p:notesMasterIdLst>
  <p:sldIdLst>
    <p:sldId xmlns:r="http://schemas.openxmlformats.org/officeDocument/2006/relationships" id="256" r:id="Ra5364a161adc4a6a"/>
    <p:sldId xmlns:r="http://schemas.openxmlformats.org/officeDocument/2006/relationships" id="257" r:id="R87776d4509c44ec2"/>
    <p:sldId xmlns:r="http://schemas.openxmlformats.org/officeDocument/2006/relationships" id="258" r:id="Ra34ea53c6b724d22"/>
    <p:sldId xmlns:r="http://schemas.openxmlformats.org/officeDocument/2006/relationships" id="259" r:id="R49dfac7d70a94944"/>
    <p:sldId xmlns:r="http://schemas.openxmlformats.org/officeDocument/2006/relationships" id="260" r:id="Raf88a4a0916b470a"/>
    <p:sldId xmlns:r="http://schemas.openxmlformats.org/officeDocument/2006/relationships" id="261" r:id="Rc07ef3ac8b964b28"/>
    <p:sldId xmlns:r="http://schemas.openxmlformats.org/officeDocument/2006/relationships" id="262" r:id="Rfcdf1342c642446d"/>
    <p:sldId xmlns:r="http://schemas.openxmlformats.org/officeDocument/2006/relationships" id="263" r:id="R9f60c8da3b10430f"/>
    <p:sldId xmlns:r="http://schemas.openxmlformats.org/officeDocument/2006/relationships" id="264" r:id="R69685a25666942c4"/>
    <p:sldId xmlns:r="http://schemas.openxmlformats.org/officeDocument/2006/relationships" id="265" r:id="Rc69a65c45e92492f"/>
    <p:sldId xmlns:r="http://schemas.openxmlformats.org/officeDocument/2006/relationships" id="266" r:id="Rd3be252216bd48c5"/>
    <p:sldId xmlns:r="http://schemas.openxmlformats.org/officeDocument/2006/relationships" id="267" r:id="R3c391172d10e4e73"/>
    <p:sldId xmlns:r="http://schemas.openxmlformats.org/officeDocument/2006/relationships" id="268" r:id="Rb1aa1a93b06245ea"/>
    <p:sldId xmlns:r="http://schemas.openxmlformats.org/officeDocument/2006/relationships" id="269" r:id="R050d9637820b4e49"/>
    <p:sldId xmlns:r="http://schemas.openxmlformats.org/officeDocument/2006/relationships" id="270" r:id="Rd62d619ba68a4428"/>
    <p:sldId xmlns:r="http://schemas.openxmlformats.org/officeDocument/2006/relationships" id="271" r:id="Rd9453f3dc4934f42"/>
    <p:sldId xmlns:r="http://schemas.openxmlformats.org/officeDocument/2006/relationships" id="272" r:id="R7d69e594f57d4503"/>
    <p:sldId xmlns:r="http://schemas.openxmlformats.org/officeDocument/2006/relationships" id="273" r:id="R372264b9a76e4f61"/>
    <p:sldId xmlns:r="http://schemas.openxmlformats.org/officeDocument/2006/relationships" id="274" r:id="R43a7a481588041ef"/>
    <p:sldId xmlns:r="http://schemas.openxmlformats.org/officeDocument/2006/relationships" id="275" r:id="R8d2c0dadce1f4ce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91b7c07da64310" /><Relationship Type="http://schemas.openxmlformats.org/officeDocument/2006/relationships/slideMaster" Target="/ppt/slideMasters/slideMaster1.xml" Id="R52796076c2f842ac" /><Relationship Type="http://schemas.openxmlformats.org/officeDocument/2006/relationships/notesMaster" Target="/ppt/notesMasters/notesMaster1.xml" Id="R923b12242aed4c4d" /><Relationship Type="http://schemas.openxmlformats.org/officeDocument/2006/relationships/presProps" Target="/ppt/presProps.xml" Id="R3a9d6544dec94f0c" /><Relationship Type="http://schemas.openxmlformats.org/officeDocument/2006/relationships/tableStyles" Target="/ppt/tableStyles.xml" Id="R7b0b7a64e4c441ae" /><Relationship Type="http://schemas.openxmlformats.org/officeDocument/2006/relationships/slide" Target="/ppt/slides/slide1.xml" Id="Ra5364a161adc4a6a" /><Relationship Type="http://schemas.openxmlformats.org/officeDocument/2006/relationships/slide" Target="/ppt/slides/slide2.xml" Id="R87776d4509c44ec2" /><Relationship Type="http://schemas.openxmlformats.org/officeDocument/2006/relationships/slide" Target="/ppt/slides/slide3.xml" Id="Ra34ea53c6b724d22" /><Relationship Type="http://schemas.openxmlformats.org/officeDocument/2006/relationships/slide" Target="/ppt/slides/slide4.xml" Id="R49dfac7d70a94944" /><Relationship Type="http://schemas.openxmlformats.org/officeDocument/2006/relationships/slide" Target="/ppt/slides/slide5.xml" Id="Raf88a4a0916b470a" /><Relationship Type="http://schemas.openxmlformats.org/officeDocument/2006/relationships/slide" Target="/ppt/slides/slide6.xml" Id="Rc07ef3ac8b964b28" /><Relationship Type="http://schemas.openxmlformats.org/officeDocument/2006/relationships/slide" Target="/ppt/slides/slide7.xml" Id="Rfcdf1342c642446d" /><Relationship Type="http://schemas.openxmlformats.org/officeDocument/2006/relationships/slide" Target="/ppt/slides/slide8.xml" Id="R9f60c8da3b10430f" /><Relationship Type="http://schemas.openxmlformats.org/officeDocument/2006/relationships/slide" Target="/ppt/slides/slide9.xml" Id="R69685a25666942c4" /><Relationship Type="http://schemas.openxmlformats.org/officeDocument/2006/relationships/slide" Target="/ppt/slides/slide10.xml" Id="Rc69a65c45e92492f" /><Relationship Type="http://schemas.openxmlformats.org/officeDocument/2006/relationships/slide" Target="/ppt/slides/slide11.xml" Id="Rd3be252216bd48c5" /><Relationship Type="http://schemas.openxmlformats.org/officeDocument/2006/relationships/slide" Target="/ppt/slides/slide12.xml" Id="R3c391172d10e4e73" /><Relationship Type="http://schemas.openxmlformats.org/officeDocument/2006/relationships/slide" Target="/ppt/slides/slide13.xml" Id="Rb1aa1a93b06245ea" /><Relationship Type="http://schemas.openxmlformats.org/officeDocument/2006/relationships/slide" Target="/ppt/slides/slide14.xml" Id="R050d9637820b4e49" /><Relationship Type="http://schemas.openxmlformats.org/officeDocument/2006/relationships/slide" Target="/ppt/slides/slide15.xml" Id="Rd62d619ba68a4428" /><Relationship Type="http://schemas.openxmlformats.org/officeDocument/2006/relationships/slide" Target="/ppt/slides/slide16.xml" Id="Rd9453f3dc4934f42" /><Relationship Type="http://schemas.openxmlformats.org/officeDocument/2006/relationships/slide" Target="/ppt/slides/slide17.xml" Id="R7d69e594f57d4503" /><Relationship Type="http://schemas.openxmlformats.org/officeDocument/2006/relationships/slide" Target="/ppt/slides/slide18.xml" Id="R372264b9a76e4f61" /><Relationship Type="http://schemas.openxmlformats.org/officeDocument/2006/relationships/slide" Target="/ppt/slides/slide19.xml" Id="R43a7a481588041ef" /><Relationship Type="http://schemas.openxmlformats.org/officeDocument/2006/relationships/slide" Target="/ppt/slides/slide20.xml" Id="R8d2c0dadce1f4c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46b2a606024e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8f1c19033b41b7" /><Relationship Type="http://schemas.openxmlformats.org/officeDocument/2006/relationships/notesMaster" Target="/ppt/notesMasters/notesMaster1.xml" Id="R89d7b99f991641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dfb813c06048ef" /><Relationship Type="http://schemas.openxmlformats.org/officeDocument/2006/relationships/notesMaster" Target="/ppt/notesMasters/notesMaster1.xml" Id="R9d30630825c443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a62a74e7864ee9" /><Relationship Type="http://schemas.openxmlformats.org/officeDocument/2006/relationships/notesMaster" Target="/ppt/notesMasters/notesMaster1.xml" Id="R36b743c0937b4a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8bc1ae4e7146ae" /><Relationship Type="http://schemas.openxmlformats.org/officeDocument/2006/relationships/notesMaster" Target="/ppt/notesMasters/notesMaster1.xml" Id="R09831483af6640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dba4530fb347c1" /><Relationship Type="http://schemas.openxmlformats.org/officeDocument/2006/relationships/notesMaster" Target="/ppt/notesMasters/notesMaster1.xml" Id="Ra776b81b446d4e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51febaf97d447a" /><Relationship Type="http://schemas.openxmlformats.org/officeDocument/2006/relationships/notesMaster" Target="/ppt/notesMasters/notesMaster1.xml" Id="R8c12e952a34947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14ea0f67eb46c9" /><Relationship Type="http://schemas.openxmlformats.org/officeDocument/2006/relationships/notesMaster" Target="/ppt/notesMasters/notesMaster1.xml" Id="R3bfefe730aee4b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de7c32c9cd413d" /><Relationship Type="http://schemas.openxmlformats.org/officeDocument/2006/relationships/notesMaster" Target="/ppt/notesMasters/notesMaster1.xml" Id="Rf57f2a22f6914c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894b41bd6d4b93" /><Relationship Type="http://schemas.openxmlformats.org/officeDocument/2006/relationships/notesMaster" Target="/ppt/notesMasters/notesMaster1.xml" Id="R10bac204255344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4e080d7d374fef" /><Relationship Type="http://schemas.openxmlformats.org/officeDocument/2006/relationships/notesMaster" Target="/ppt/notesMasters/notesMaster1.xml" Id="R4e584347948444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611922ff094a4c" /><Relationship Type="http://schemas.openxmlformats.org/officeDocument/2006/relationships/notesMaster" Target="/ppt/notesMasters/notesMaster1.xml" Id="R9ab259470b5746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a3f8eb69da47cf" /><Relationship Type="http://schemas.openxmlformats.org/officeDocument/2006/relationships/notesMaster" Target="/ppt/notesMasters/notesMaster1.xml" Id="R0fafd7a40c7940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5829fd889f4f42" /><Relationship Type="http://schemas.openxmlformats.org/officeDocument/2006/relationships/notesMaster" Target="/ppt/notesMasters/notesMaster1.xml" Id="Rd854fea2fff149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2eb849459a4f35" /><Relationship Type="http://schemas.openxmlformats.org/officeDocument/2006/relationships/notesMaster" Target="/ppt/notesMasters/notesMaster1.xml" Id="Ref57b30c160140a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5b01bd7d284c3b" /><Relationship Type="http://schemas.openxmlformats.org/officeDocument/2006/relationships/notesMaster" Target="/ppt/notesMasters/notesMaster1.xml" Id="R8808819c2bf4492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91111869b9d4444" /><Relationship Type="http://schemas.openxmlformats.org/officeDocument/2006/relationships/notesMaster" Target="/ppt/notesMasters/notesMaster1.xml" Id="R1e3cda56d9aa4b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72f6ead3d9b49e2" /><Relationship Type="http://schemas.openxmlformats.org/officeDocument/2006/relationships/notesMaster" Target="/ppt/notesMasters/notesMaster1.xml" Id="Rf0ffd54068ca42f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a46e4e6e54e4623" /><Relationship Type="http://schemas.openxmlformats.org/officeDocument/2006/relationships/notesMaster" Target="/ppt/notesMasters/notesMaster1.xml" Id="Rd0f8431c7039409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a2511f752294fb8" /><Relationship Type="http://schemas.openxmlformats.org/officeDocument/2006/relationships/notesMaster" Target="/ppt/notesMasters/notesMaster1.xml" Id="R38e7b62e3f61442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fd3d3a66678451f" /><Relationship Type="http://schemas.openxmlformats.org/officeDocument/2006/relationships/notesMaster" Target="/ppt/notesMasters/notesMaster1.xml" Id="R42c0a186f96c40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开场点明作品和 A3 赛题方向：我们不是做一个普通问答机器人，而是把课程资料、画像、多 Agent 与多模态资源生产串成完整学习系统。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这一页把赛题拆成五个可评分能力，并说明项目的对应实现。重点让评委知道：我们围绕 A3 题目做的是资源生成系统，而不是聊天工具。已落地能力有资源工坊、多 Agent Trace 和多模态资产。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从学生真实学习痛点切入：他们并不缺资料，缺的是整理、适配和行动闭环。项目价值就在于让课程资料变成可以直接学习和复盘的资源包。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这一页给评委建立总图：输入是课程资料和学习目标，中间是画像与多 Agent，输出是多类型资源，最后回到首页推荐和学习闭环。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功能矩阵证明项目不是单点 Demo。资料、问答、资源生成、多 Agent、多模态和练习闭环共同支撑 A3 要求。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这里讲清楚用户怎么用：选资料、填目标、选资源类型，启动生成后看到进度和结果。旧功能没有被替代，而是被资源工坊串起来。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这是关键技术页。ResourceOrchestratorAgent 负责总控，专项 Agent 负责画像、总结、题库、路径、多模态和安全，Trace 让生成过程可解释、可追踪。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画像页强调个性化来源：专业、基础、目标、时间、偏好和薄弱点会影响资源包、学习路径和首页推荐。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这一页回答防幻觉问题：资料解析后进入向量库，问答时结合向量检索和 BM25，优先基于知识库回答，不知道就明确说明。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第十页必须压住评分点：明确展示至少五类资源。这里可以结合真实生成结果截图，说明一次生成可交付文档、导图、题库、路径和多模态资产。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这一页体现命题企业生态适配。要强调密钥在后端 Provider 层，前端只消费生成后的 ResourceAsset，不暴露 API Key。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文生图页展示多模态生成的第二条链路。注意不要使用空占位图冒充结果，正式答辩前应替换成真实生成图片截图。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结合最近优化后的首页讲：卡片要能发挥效果，承接资料、问答、总结、计划、错题和资源工坊，让学生知道下一步该做什么。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这一页避免夸大 EvaluationAgent：当前已经有出题、判分、错题本等数据基础，后续可以升级为更完整的学习效果评估。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架构页突出企业级工程能力：前后端分离，后端三层结构，AI 能力独立成层，Provider 可替换，数据和资产有独立管理。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安全页回答真实系统问题：如何降低幻觉、怎么处理多模态失败、长任务怎么追踪、密钥如何保护、文件如何鉴权。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创新总结要和评分项呼应：多 Agent、资源包、多模态、学习闭环。这些不是孤立功能，而是围绕 A3 题目的系统化设计。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完成度页只讲可验证事实：前端构建通过、资源工坊和 Trace 已接入、多模态 Provider 与资产闭环已具备，后续用测试截图增强可信度。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演示路线控制在 7 分钟内：从首页开始，进入资料和资源工坊，展示 Agent 进度、资源包、多模态资产，再回到问答或错题闭环。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结尾收束价值：当前项目已经能围绕课程生成多类型资源，未来继续增强评估、推荐和更丰富的多模态表达。不要把规划说成已完成。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778b94eb7a4a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15babbd2e64df5" /><Relationship Type="http://schemas.openxmlformats.org/officeDocument/2006/relationships/slideLayout" Target="/ppt/slideLayouts/slideLayout1.xml" Id="R43b4e138560f41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b4e138560f41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39aa9f2dc400f" /><Relationship Type="http://schemas.openxmlformats.org/officeDocument/2006/relationships/notesSlide" Target="/ppt/notesSlides/notesSlide1.xml" Id="R09533475935641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42afcc3de44ff" /><Relationship Type="http://schemas.openxmlformats.org/officeDocument/2006/relationships/notesSlide" Target="/ppt/notesSlides/notesSlide2.xml" Id="R68723a8b0b0941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c25aebcb54963" /><Relationship Type="http://schemas.openxmlformats.org/officeDocument/2006/relationships/notesSlide" Target="/ppt/notesSlides/notesSlide3.xml" Id="Ra8b40bc03e2b40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7c6ea60854187" /><Relationship Type="http://schemas.openxmlformats.org/officeDocument/2006/relationships/notesSlide" Target="/ppt/notesSlides/notesSlide4.xml" Id="R70fe9fb7599a42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22a4ecf2748e6" /><Relationship Type="http://schemas.openxmlformats.org/officeDocument/2006/relationships/notesSlide" Target="/ppt/notesSlides/notesSlide5.xml" Id="Ra9760b84fe6746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25a725cb14225" /><Relationship Type="http://schemas.openxmlformats.org/officeDocument/2006/relationships/notesSlide" Target="/ppt/notesSlides/notesSlide6.xml" Id="R1330b61d2aaa4f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f35d319e842d0" /><Relationship Type="http://schemas.openxmlformats.org/officeDocument/2006/relationships/notesSlide" Target="/ppt/notesSlides/notesSlide7.xml" Id="R73bcc64fea4043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e7c947c804a98" /><Relationship Type="http://schemas.openxmlformats.org/officeDocument/2006/relationships/notesSlide" Target="/ppt/notesSlides/notesSlide8.xml" Id="R3f953d32eb734b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209c58d3c429e" /><Relationship Type="http://schemas.openxmlformats.org/officeDocument/2006/relationships/notesSlide" Target="/ppt/notesSlides/notesSlide9.xml" Id="R96954112342a47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b0bd8e0c64310" /><Relationship Type="http://schemas.openxmlformats.org/officeDocument/2006/relationships/notesSlide" Target="/ppt/notesSlides/notesSlide10.xml" Id="Ra977ad07b1a243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63b9824044a03" /><Relationship Type="http://schemas.openxmlformats.org/officeDocument/2006/relationships/notesSlide" Target="/ppt/notesSlides/notesSlide11.xml" Id="R39a6400610b94f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dabc5d5ec4382" /><Relationship Type="http://schemas.openxmlformats.org/officeDocument/2006/relationships/notesSlide" Target="/ppt/notesSlides/notesSlide12.xml" Id="Re27c876071174f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8ef4e514048f3" /><Relationship Type="http://schemas.openxmlformats.org/officeDocument/2006/relationships/notesSlide" Target="/ppt/notesSlides/notesSlide13.xml" Id="R1c189e26faed4f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5c209131e4c8c" /><Relationship Type="http://schemas.openxmlformats.org/officeDocument/2006/relationships/notesSlide" Target="/ppt/notesSlides/notesSlide14.xml" Id="R4b1088ad672544b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f3775aeb64bae" /><Relationship Type="http://schemas.openxmlformats.org/officeDocument/2006/relationships/notesSlide" Target="/ppt/notesSlides/notesSlide15.xml" Id="Ra206058e03bd4e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ed0786ca74f2a" /><Relationship Type="http://schemas.openxmlformats.org/officeDocument/2006/relationships/notesSlide" Target="/ppt/notesSlides/notesSlide16.xml" Id="R3eab74dda0db48c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f3cc9ddfc4968" /><Relationship Type="http://schemas.openxmlformats.org/officeDocument/2006/relationships/notesSlide" Target="/ppt/notesSlides/notesSlide17.xml" Id="Raecca158c09f444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442096da445e2" /><Relationship Type="http://schemas.openxmlformats.org/officeDocument/2006/relationships/notesSlide" Target="/ppt/notesSlides/notesSlide18.xml" Id="Rcaf884e918094fa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7d16e8ba74f85" /><Relationship Type="http://schemas.openxmlformats.org/officeDocument/2006/relationships/notesSlide" Target="/ppt/notesSlides/notesSlide19.xml" Id="Rfb13b2c83ece420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cd2b04005445e" /><Relationship Type="http://schemas.openxmlformats.org/officeDocument/2006/relationships/notesSlide" Target="/ppt/notesSlides/notesSlide20.xml" Id="R41cac2090d8643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78D7F-6CF0-446D-B31B-D1B6247F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838200"/>
            <a:ext cx="4572000" cy="4953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68693-48FD-4626-A07A-387C9E98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200150"/>
            <a:ext cx="388620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92363-50E3-44FE-9092-6D350D72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371600"/>
            <a:ext cx="35433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5A5EA-C4AF-427D-A175-84B969AB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241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截图 S1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98937-FB98-4438-BEF4-549C133A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6700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首页总览 / 学习入口 / 资源推荐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371D6-5DA1-495F-BEBF-65F3D6E9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中国软件杯 A3 赛道参赛作品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257BD-2C85-4FFE-947B-D4DE7A70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AI Study Assistant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DAE9D-5B37-4073-B050-E34A64F4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561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基于大模型的个性化资源生成</a:t>
            </a:r>
          </a:p>
          <a:p xmlns:a="http://schemas.openxmlformats.org/drawingml/2006/main">
            <a:pPr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与学习多智能体系统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134ED-897A-4198-90E6-0A21F61B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280"/>
                </a:solidFill>
              </a:defRPr>
            </a:pPr>
            <a:r>
              <a:rPr sz="1575" b="0">
                <a:solidFill>
                  <a:srgbClr val="6B7280"/>
                </a:solidFill>
              </a:rPr>
              <a:t>面向高校课程学习，把课程资料、学习画像与多 Agent 编排连接成可追踪的学习资源生产线。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95C1A-0B59-4D90-959F-3A627906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1504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2C3C9-EDB9-4266-9954-AD78C85A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多 Agent 协同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222E9-BEC7-40F4-9990-C99EDAC0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48200"/>
            <a:ext cx="11334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19F17-87D5-429B-A2D8-E056EC49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05350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个性化资源生成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D718D-6BAC-479C-B72A-B7E74798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648200"/>
            <a:ext cx="11334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3B9CF-83F5-47A1-8FEC-AD8446C4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705350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讯飞多模态增强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C2424-E3B7-4697-8FD3-05FC3FF5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队伍 / 学校 / 成员信息待替换 ·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653DA3-6214-4125-AB16-0F10C678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AI Study Assistant · 个性化资源生成与学习多智能体系统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107F0-8311-47F7-8B0D-BE47E4D1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79129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FB255-CD55-40AD-83A2-B7711256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中国软件杯 A3 赛道 · AI Study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C4794-8732-4F74-8016-79F4285E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赛题核心不是资源更多，而是资源更适合当前学生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81653-3A38-42D9-B144-4D1B0519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49A8C-B5BA-4AFE-9846-BD16E43C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45720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DB990-FEF7-407D-A991-4FE4BE71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1455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B40CB-D5E8-4DEE-8293-58477F5D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717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命题侧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FA3F2-80C3-41BF-971C-97F1F6D3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A3 赛题要求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54925-E30D-4F6B-BDC5-3A281E80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41148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学习画像构建</a:t>
            </a:r>
          </a:p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多智能体协同资源生成</a:t>
            </a:r>
          </a:p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个性化路径规划</a:t>
            </a:r>
          </a:p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多模态学习资源</a:t>
            </a:r>
          </a:p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防幻觉与安全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9A852-D382-474E-A469-CBF5A171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43100"/>
            <a:ext cx="45720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64471-E484-4828-9D95-DD51D524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1455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43EF7-30BA-4519-B4CF-72ED3F9C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717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作品侧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7DA6E-50EC-449B-B345-2AE8D734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9555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项目对应实现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2F71F-06A9-49FC-B489-89C3CB92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41148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用户画像 + Profile 解析</a:t>
            </a:r>
          </a:p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ResourceOrchestratorAgent 编排</a:t>
            </a:r>
          </a:p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PlanAgent + 学习计划</a:t>
            </a:r>
          </a:p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文档 / 题库 / 导图 / 播客 / 配图</a:t>
            </a:r>
          </a:p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RAG + SafetyAgent 校验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BE18B-56B4-4AC1-8C5F-4FE5AC66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1470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F766E"/>
                </a:solidFill>
              </a:defRPr>
            </a:pPr>
            <a:r>
              <a:rPr sz="345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79C3BE-FA26-4A6D-8A24-6F32292F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AI Study Assistant · 个性化资源生成与学习多智能体系统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89150D-264E-4181-8675-8C572107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66792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67F2B0-EB7D-45DB-A972-B489157C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中国软件杯 A3 赛道 · AI Study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7BE57-13E0-43E0-B1FD-D9320A15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高校自主学习卡在资料、理解和行动三类断点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8BFCC-4548-4487-A22D-5B01AAA3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A9F7A-E044-4F03-9A58-96D04BAA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3143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18959-1BDD-4A5B-A2D2-2F02FF0F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8A765-BC76-4D35-AEE0-65C5BCE5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05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FEE89-EE0F-4FCB-AE30-E3BFC52D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资料断点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A280A-1D25-4AB3-9BC9-7F3F2EF0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2686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课件、教材、论文和网课资源分散，学生难以快速筛选与组织。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5EF2F-CE98-4EFD-A5C7-6F66A906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76450"/>
            <a:ext cx="3143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AC597-9E60-44E0-A5C4-3667BBD1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4790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F934F-3DE9-4969-A5DE-8964C934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05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适配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3CC7D-F343-46AE-9881-B7C06F3C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289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理解断点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D2BF3-DE0F-428A-8D86-64F75B2D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90850"/>
            <a:ext cx="2686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统一资料无法适配不同基础、目标和认知方式，学习成本被动升高。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20885-FF43-4EB9-AE5A-4A72F267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143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2920B-7D59-4795-BE42-95E402F9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4790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7403A1-02EF-48BA-A1AD-7337351E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05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A11C3-44FB-460F-B78D-A9CA4B0C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行动断点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DFB60A-7688-4299-A9AB-5F0A2BA9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2686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知道要学什么，却缺少路径、练习、反馈和复盘机制。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95E03C-8C60-4EC6-93AC-44A27E8B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05400"/>
            <a:ext cx="975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项目目标：以一门高校课程为输入，生成适合当前学生的学习资源包，并持续引导下一步学习。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D6CA12-DAD1-4C84-9E93-F6B32A90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AI Study Assistant · 个性化资源生成与学习多智能体系统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D89C66-9C18-4B7E-A68B-ED727892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556995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5943FF-A603-447A-8A48-FEFFC3E7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中国软件杯 A3 赛道 · AI Study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60192-9099-4FF6-B519-5131D800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系统把课程资料加工成可持续使用的学习资源包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55323-1265-49FC-B475-FCED7A31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5AC0D-101C-4C0D-9288-793E60FA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31064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48C05-D068-435D-A3C7-C037B7C8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108204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课程资料</a:t>
            </a:r>
          </a:p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学习目标</a:t>
            </a:r>
          </a:p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学习历史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4A36C-35A9-416A-BFA5-1EE737F9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365" y="27717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D2FC0-2C41-4F3A-B890-B545B789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290" y="2266950"/>
            <a:ext cx="131064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D52BF-4F9A-46BC-A398-E4C30E9B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590" y="2438400"/>
            <a:ext cx="108204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学生画像</a:t>
            </a:r>
          </a:p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资源工坊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6EAE9-09F5-40CE-A68D-25AE4F8A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455" y="27717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F24CB-054E-46F9-BD11-2E978294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380" y="2266950"/>
            <a:ext cx="131064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66E21-191D-41EB-8EFC-A369CF3F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2438400"/>
            <a:ext cx="108204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多 Agent</a:t>
            </a:r>
          </a:p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协同编排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5344B-C60C-4023-8B01-6DC4D035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545" y="27717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9AA12-D4C4-4448-AC35-BDBEC1C6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2266950"/>
            <a:ext cx="131064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B8EB7-86B3-4D0E-9193-5FD89AB5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770" y="2438400"/>
            <a:ext cx="108204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总结 / 导图</a:t>
            </a:r>
          </a:p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题库 / 路径</a:t>
            </a:r>
          </a:p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音频 / 配图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EE073-1297-4457-902D-26C40BD8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635" y="27717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C5ECC-2FE8-453C-8FBF-74A67B84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266950"/>
            <a:ext cx="131064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4D38D1-F58A-4DFB-A1F2-F77348BA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860" y="2438400"/>
            <a:ext cx="108204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首页推荐</a:t>
            </a:r>
          </a:p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问答 / 复盘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5A4BA8-0D0E-4BC3-AD46-035F2DA1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2762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8BF2AC-BBC2-4A7B-8A98-75F57908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57400"/>
            <a:ext cx="24193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9481B7-CFCC-403D-980C-37F2F92D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05125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截图 S5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0D38B-4FB6-43DA-8E2E-86C47C4F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4802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资源工坊创建表单 / 多模态开关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B217A3-A40E-44F5-8E88-3E4FF1DD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B7280"/>
                </a:solidFill>
              </a:defRPr>
            </a:pPr>
            <a:r>
              <a:rPr sz="1500" b="0">
                <a:solidFill>
                  <a:srgbClr val="6B7280"/>
                </a:solidFill>
              </a:rPr>
              <a:t>资源工坊是 A3 核心入口：它不是推倒旧功能，而是把资料、问答、总结、出题、计划和多模态能力重新组织成一条生成流水线。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6D67D1-AA4E-4C20-9B74-9454C5EA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AI Study Assistant · 个性化资源生成与学习多智能体系统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52E4A2-7E51-4C95-93AD-2E58E90F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888567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97D0D8-C758-42E5-A880-1B265F5D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中国软件杯 A3 赛道 · AI Study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59F81-DDC0-4FCA-BC88-5920CDC6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项目已形成从资料输入到学习闭环的完整能力矩阵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A4B8C-C395-4993-87EF-3ADBA5AA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B9756-EBC0-4E78-A560-0EA29AFC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3143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6FC83-D330-4891-8ED2-29C1958A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资料管理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ABB72-64A5-4488-A9CE-404488B1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上传、解析、切片、入库</a:t>
            </a:r>
          </a:p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构建课程知识库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DDECF-7C6E-4810-9801-17973CF7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3143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7795F-A0B4-44E3-B186-7EB7AB05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002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RAG 问答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6E802-79B2-4EE2-83AA-5B7A1D75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8125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混合检索、多轮问答</a:t>
            </a:r>
          </a:p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降低幻觉风险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995F3-5EB5-434F-9FC4-8B20161C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3143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7C2CF-C398-4F61-BBFA-AAB09CAA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资源工坊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C85EE-3F2F-4F4E-84EF-550A0BD8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一键生成多类型资源包</a:t>
            </a:r>
          </a:p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A3 核心功能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D8DAA-6289-4A25-B2EC-5B795AD8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143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EFB2F-3043-4F6C-8C99-0F184753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多 Agent 编排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6DE9C-98CC-45ED-A686-CAB9FE3D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专项 Agent 分工</a:t>
            </a:r>
          </a:p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Trace 可视化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73E61-6F2F-4C99-A918-EE28634E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43300"/>
            <a:ext cx="3143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C285A-08B8-451E-882B-9DEB1999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528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多模态资产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78E78-8C14-4418-A243-D33CE19B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3385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TTS 音频、文生图配图</a:t>
            </a:r>
          </a:p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贴合讯飞生态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B70085-AB41-4912-930E-F0152DD7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43300"/>
            <a:ext cx="3143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CA8D13-343C-4FE0-9AA5-5377FBD2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练习闭环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AE2920-F412-4CA6-B49B-E54A2B79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3385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出题、判分、错题本</a:t>
            </a:r>
          </a:p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促进复习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B3DF3C-3F8F-4C42-8240-7EFB39F2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AI Study Assistant · 个性化资源生成与学习多智能体系统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C0C3BA-798D-4BB7-889F-0B2313AE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004720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84BF15-3E5C-48E0-AE8D-76133EDC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中国软件杯 A3 赛道 · AI Study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C428F-E80A-4359-9BEF-BFE5F030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资源工坊让用户用一条路径完成资源生成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FB32D-402E-43A9-AD5E-99FADC4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9B5F1-7244-40AC-BF2C-713D2298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571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07131-6EDC-472B-B45A-B693E781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1343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选择资料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CD60E-0AE1-461E-9EAF-9476F879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050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8F428-C721-4F39-83F3-231A03C1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152650"/>
            <a:ext cx="1571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2E703-1BC1-4036-80A6-852C46D8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324100"/>
            <a:ext cx="1343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填写目标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D7A03-9E9C-445C-BD14-69EDA306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5050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B9156-EE49-4C49-BFEF-3E0253D2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52650"/>
            <a:ext cx="1571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51C44-7BE7-4200-BC05-AA8E863A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1343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选择资源</a:t>
            </a:r>
          </a:p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与开关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70922-5B1F-486B-A1FF-48A1B8D1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050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5FBD7-FE3D-4213-BF0D-D9F7A7A8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52650"/>
            <a:ext cx="1571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486D3-174F-4B50-BACA-DB848FFB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24100"/>
            <a:ext cx="1343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Agent 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E7F45-8DED-4C2A-B5DE-0CFDF576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5050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558D42-5201-4B84-A3C3-818F8D60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52650"/>
            <a:ext cx="1571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05268-7268-487A-8116-7BF5BFF1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1343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查看资源包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A5FC2A-F592-4D79-ADE6-E0088832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050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060EF-CC89-4C6B-BAB0-D11864AD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152650"/>
            <a:ext cx="1571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84399-6B74-4B0E-BD77-BB65380A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324100"/>
            <a:ext cx="1343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首页继续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EE4903-A962-4021-86E6-F68D6F9B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90950"/>
            <a:ext cx="40957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A778C2-9906-4732-B97A-73AC1459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62400"/>
            <a:ext cx="3752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F0BF5A-9871-4297-B4CD-BC54C9A0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95775"/>
            <a:ext cx="344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截图 S5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B0CA54-0F5C-4D9B-9B95-84F64482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38675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创建表单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D7FC29-FA59-4EBC-97C4-3725DEDC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90950"/>
            <a:ext cx="40957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FBBF32-B3D1-4321-A124-661CF954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62400"/>
            <a:ext cx="3752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A34817-D4E6-4C78-92F7-195DD07E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95775"/>
            <a:ext cx="344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截图 S7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6327BF-9D58-4C2D-872E-2481B9E4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38675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资源包结果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508D88-7CB7-49B5-AC0B-2044E9DB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AI Study Assistant · 个性化资源生成与学习多智能体系统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5ABC2F-A1D3-4A7D-AA32-BF94952A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384645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B873EB-623F-4780-957F-4F7E420F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中国软件杯 A3 赛道 · AI Study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76756-149B-4217-B830-7F099AB2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多 Agent 编排把生成任务拆成可追踪流水线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3A083-01CD-4AAD-9FB9-AC2F5955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D0177-8131-48EC-847F-45A9DC53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752600"/>
            <a:ext cx="43434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32F54-48CF-4D2C-99DE-B055595F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05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ResourceOrchestratorAgent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831FE-A1E9-4E58-9CF8-21A11C83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571625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384A9-F291-4103-AB81-5870FED2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13430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Profile</a:t>
            </a:r>
          </a:p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画像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5F116-A1E6-4D97-A834-AE6BFF8A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718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D6649-8DFA-4369-B7C6-CBE4DEF6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857500"/>
            <a:ext cx="1571625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57D2B-9804-4846-99C2-F622FBF2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028950"/>
            <a:ext cx="13430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Summary</a:t>
            </a:r>
          </a:p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总结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28864-52AE-4908-9185-7E09F141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718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D30B3-67CD-4F39-8F70-D9F87DEA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1571625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E1B367-3E74-4D1B-ACB7-4941E78F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28950"/>
            <a:ext cx="13430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Quiz</a:t>
            </a:r>
          </a:p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题库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9BD62-4BE6-4197-BF53-E56A29C4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718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A2D4E-8BDD-42FA-BAF1-1ECAC9D1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57500"/>
            <a:ext cx="1571625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8D42B-4E31-42BA-A380-76365D72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028950"/>
            <a:ext cx="13430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Plan</a:t>
            </a:r>
          </a:p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B28F70-96BF-45D9-9C5D-699F637A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1718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CF5CDC-DE06-4A9B-AD35-A884EF52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57500"/>
            <a:ext cx="1571625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A5382-307E-4834-999A-35D94976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13430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Multimodal</a:t>
            </a:r>
          </a:p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音频/图片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0C8B2-6A76-41BB-8F2B-C5A36031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718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16AFB8-9443-49E4-8EED-4E0289EA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857500"/>
            <a:ext cx="1571625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864153-6834-4442-9D4B-EF2FDB56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028950"/>
            <a:ext cx="13430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Safety</a:t>
            </a:r>
          </a:p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校验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EF103A-210D-4BAB-BE36-EB09EC80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52950"/>
            <a:ext cx="8191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18F0D1-FF39-4628-BD59-CA9C80FD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05350"/>
            <a:ext cx="7658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B7280"/>
                </a:solidFill>
              </a:defRPr>
            </a:pPr>
            <a:r>
              <a:rPr sz="1500" b="1">
                <a:solidFill>
                  <a:srgbClr val="6B7280"/>
                </a:solidFill>
              </a:rPr>
              <a:t>Tools + Existing Services + Xfyun Providers + RAG / VectorStore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70E956-D84A-44F9-8C5A-2F17EB08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90700"/>
            <a:ext cx="21907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9BC1A5-0084-4B0D-A67E-AD5B98B7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62150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58348E-2C9D-49C5-8CD9-EC096020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7642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截图 S8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1768B0-CB86-4F78-AF8E-DD572506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19325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Agent Trace 时间线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CC3548-DBD2-4E28-835D-8E266111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AI Study Assistant · 个性化资源生成与学习多智能体系统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B602F1-C355-4F28-B724-6273110C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850965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E8D072-3E5C-4CD6-8DF7-C2639E02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中国软件杯 A3 赛道 · AI Study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7169B-4419-4925-B814-2ACFF568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学生画像贯穿生成、规划和首页推荐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E7B80-D160-48F6-9162-4E579EE2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73AAB-A913-445A-8B55-638E5BD8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31813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5E130-2B99-4737-8763-54E9410B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专业方向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9263C-7E73-4740-93D4-69FE761F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27241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作为资源生成与推荐上下文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E03D9-67E9-4BC5-94D5-4890CC0F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09750"/>
            <a:ext cx="31813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18ECB-8B0B-4F2E-9534-4567BB1C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19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知识基础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BF211-FA13-4867-AFC5-3B499657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00300"/>
            <a:ext cx="27241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作为资源生成与推荐上下文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CC5B8-E908-4FF8-A32E-EE2CE1D1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31813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E4162-0431-4029-920D-1A135AAC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学习目标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E3567-2823-4605-9A61-0EF63441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05200"/>
            <a:ext cx="27241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作为资源生成与推荐上下文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711EB-C59F-401C-B183-8A0676C6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31813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34C94-BFB9-4765-9150-2C48E3EE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242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时间约束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5BC82-39AE-46A1-9912-B1D5F9E5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05200"/>
            <a:ext cx="27241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作为资源生成与推荐上下文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435A1-0745-4FAF-BD55-C3409387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31813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DA3CD9-7BAE-42FF-B989-AAC535C1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291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内容偏好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18BE42-343E-43B5-8B81-3740D80F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27241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作为资源生成与推荐上下文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01D58B-0E40-43D9-B1D1-5B7471B4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19550"/>
            <a:ext cx="31813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D3D7F2-221E-47AA-9DF3-1F47251A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291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薄弱点 / 易错点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45BF1-37F7-4739-AF4D-A8AA6F5B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10100"/>
            <a:ext cx="27241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作为资源生成与推荐上下文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6B401-074F-4A34-9BF6-90AACFA3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285750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AC54DE-82AE-4CCD-B479-67DA914F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25146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814BBF-5C9E-4592-B143-EA16EDFD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099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截图 S2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AA7113-1C4E-4254-9255-3CA341FD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528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用户中心画像 / 或用户中心 + 资源工坊目标输入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17297B-A581-41A6-96EC-08D27C9B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画像不是一次性表单，而是贯穿资源生成、学习计划和首页下一步行动的上下文。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BE074F-2B0F-427C-ABD6-F93AC25B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AI Study Assistant · 个性化资源生成与学习多智能体系统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40F9F4-48E1-4B99-851F-3EEC51B9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984501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84FAF6-0B63-41EB-94BA-BAA3B359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中国软件杯 A3 赛道 · AI Study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431BF-325E-4100-A5F9-A3B53CD2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RAG 让 AI 辅导优先基于课程资料回答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C3D20-506F-4370-BF45-E242AF67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1D82C-9F1C-47F7-9865-5F4D61AA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1571625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9D884-287C-4FBA-A2BF-E6CE440D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13430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PDF / DOCX</a:t>
            </a:r>
          </a:p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TXT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5F03F-055D-4815-8982-078EE968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431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2EC69-B687-472D-8454-1CAADE6C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038350"/>
            <a:ext cx="1571625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29CC6-0DB1-43EA-BB1E-E78B82D9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209800"/>
            <a:ext cx="13430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文档解析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41800-42A6-46D7-B777-B69B881A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431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2198A-521D-4F37-9F7C-4D96B488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1571625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DD326-B46F-4C79-A1C0-961EF58F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09800"/>
            <a:ext cx="13430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Chunk 切片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80AF6-AE16-4758-9830-53778800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431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CA8F2-1000-4F79-9621-8C12CE35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38350"/>
            <a:ext cx="1571625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B3D53-1C7A-44B8-8720-D2254345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209800"/>
            <a:ext cx="13430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Embedding</a:t>
            </a:r>
          </a:p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PgVector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00807-9B04-4036-BCF0-771B5728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3431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DA3BB-F45B-4ED0-8069-C5A0C6C2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38350"/>
            <a:ext cx="1571625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7191F-482B-4D32-8440-0FB22A7E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13430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Vector + BM25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DD8E8-6BBF-4FA3-B676-3DDE08E4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431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DE40B-C287-4E92-9AE9-3C9C456E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038350"/>
            <a:ext cx="1571625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D00F7D-8984-45DF-8B8C-621D717E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209800"/>
            <a:ext cx="13430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RAG Answer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4686F-C117-4789-A8F9-082F3531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95700"/>
            <a:ext cx="43434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27342C-93FE-4D9F-AE24-40E10B85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67150"/>
            <a:ext cx="4000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B9E7C6-3B98-4988-B602-439C0A2C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截图 S3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848CF2-936C-4955-B010-BA588B98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339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资料管理 / 上传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861C26-A665-422B-9603-D1970D8C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95700"/>
            <a:ext cx="43434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E0EC1D-E6B0-44A6-9413-F7DB49B4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67150"/>
            <a:ext cx="4000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F3753C-8623-4DBD-901D-7BBC9DDA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9100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截图 S4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8CD61C-4C7B-4449-8DAC-B4D72243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339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AI 问答 / RAG 回答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8007FD-90B9-499B-9A78-A08E5DC4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10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答不上时明确说明，而不是编造答案。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B4F686-4BDE-436A-AE4A-91A77A1E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AI Study Assistant · 个性化资源生成与学习多智能体系统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4A8EC6-A56F-466C-A1E3-3EDF522D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03634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0B473B-4772-4523-A003-2AEB9AD4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中国软件杯 A3 赛道 · AI Study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E8B0D-A768-4D3D-BF4C-193AA257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一次生成，交付不少于五类可学习资源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B70FF-DD1C-4309-B93B-060E5DB3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19309-D51D-4DCC-9906-C941F4BE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0096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6A953-CADA-4765-B611-288B4DB5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课程讲解文档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FF84B-3A67-409F-8A92-3B0FE367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71650"/>
            <a:ext cx="11334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CEF84-4C2F-4A02-B488-4EB04A6C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28800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知识点思维导图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1057D-7D1C-486F-9E2C-0A7A1E25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3811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43E29-01FA-43A0-8B7D-AC08CD84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114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单选/判断/简答题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DF7CA-C150-48ED-8A5B-1487288D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95550"/>
            <a:ext cx="10096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5FDB9-FF5D-4A2C-B082-23B05ACD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52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拓展阅读建议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5CB23-C9E3-4D76-BFF9-50C1A7EC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1334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C5597-A940-42A2-9B55-E2DED73E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阶段化学习路径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79C252-9542-459D-9986-90708C1D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19450"/>
            <a:ext cx="8858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4E969-67DC-476D-BD60-C7C10ECB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7660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多模态脚本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51640-054D-454A-AD31-AA362782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16287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7D650D-D392-4199-AA93-AFE2EAB4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136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播客音频 + 知识配图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86B75-2274-4B32-9CA6-C0E9033B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28800"/>
            <a:ext cx="331470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DE6CB8-9371-45DF-B374-47050525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29718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7334B5-2CB0-4A37-954E-553EFF57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765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截图 S7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2CADA4-6CFB-4D6A-9D70-BB92B81A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19475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资源包结果总览 / 资源清单 / Markdown 内容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5D68E-BFAB-4947-84B5-10F62F18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768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资源包不是简单总结，而是面向“学、练、复盘、继续学”的组合交付。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9AA3F4-1074-44B8-82C0-2D55FFC3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AI Study Assistant · 个性化资源生成与学习多智能体系统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664D1-2B7C-48CD-B999-46EDD52E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845324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E055B2-524E-4060-9D43-AD873247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中国软件杯 A3 赛道 · AI Study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E89B5-EAE2-4BA7-ABC8-60D2103F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讯飞 TTS 把课程知识转成可听的学习播客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50A17-F297-4E0A-98B2-A0959FA4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FC6CA-0A84-4EF9-A8C5-65FCE7CB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476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A9239-871D-4C2E-994C-CE10E83F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81200"/>
            <a:ext cx="13811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F9A07-4741-4279-91D5-383117A8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38350"/>
            <a:ext cx="1114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97316"/>
                </a:solidFill>
              </a:defRPr>
            </a:pPr>
            <a:r>
              <a:rPr sz="975" b="1">
                <a:solidFill>
                  <a:srgbClr val="F97316"/>
                </a:solidFill>
              </a:rPr>
              <a:t>Xfyun TTS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022EC-05D1-4D92-AFA3-3C0C491F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后端 Provider 接入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367E7-36B1-4271-9815-4E749EEF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4019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MultimodalAgent 生成播客讲稿，后端调用讯飞在线 TTS，音频保存为 ResourceAsset，前端只负责播放、下载和重试。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3EEF5-9F5F-4D49-A29F-8ED1E28D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4476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D4B30-E278-417E-B216-011DBD2D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学习价值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5A91B-E3F8-40C1-AF09-15352B73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4820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适合通勤、复习、睡前回顾等碎片化学习场景，让资源包从“可读”扩展到“可听”。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9C721-508C-470A-BB90-F9DDB05A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4686300" cy="35052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A130B-0AF3-46B9-8D3A-0296C2F8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81200"/>
            <a:ext cx="43434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5D941-C762-4329-951E-55E7465A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95650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截图 S9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7CA12-02FC-4505-AE75-308A3026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38550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PodcastAssetCard / 播放器 / 下载 / 重试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88AD1-AAB6-414A-A1AA-EFF98EE5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AI Study Assistant · 个性化资源生成与学习多智能体系统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39262-FA42-4504-9A52-0867CB8A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517883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D2EC7-BB73-422F-AED5-96300DC7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中国软件杯 A3 赛道 · AI Study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854DB-430C-48CD-9A77-19D23C64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讯飞文生图把抽象知识变成可视化图解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C7EA5-DE41-4349-A97B-620ED987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9B473-C9E4-47F2-A6BF-67FD02FF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876800" cy="35052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51E31-E1F2-483E-B0AC-C45E9864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45339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58293-2AC7-4D64-AB9F-23F82952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95650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截图 S10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50ED4-A524-4D00-B44B-BDF81820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38550"/>
            <a:ext cx="407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ImageAssetGallery / 真实生成图 / 预览下载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9B859D-7734-4A02-8882-80919FE5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45910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B5D47-489F-417A-BC58-3503446F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81200"/>
            <a:ext cx="13811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E7845-502A-48D7-9C8D-2CE2AB14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1114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Xfyun TTI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FDB5B-1BE7-41A2-8262-3963657C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62200"/>
            <a:ext cx="413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生成链路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BD9AA-2C56-4E8A-85D4-7A8C54C3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24150"/>
            <a:ext cx="413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课程重点 → 图片提示词 → 讯飞文生图 Provider → PNG/JPEG 资产 → 前端画廊预览。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53DBF-A458-4FC4-8109-7AFBCFEA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5910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26F02-6095-4752-AB16-55ED58E1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413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展示价值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E9138-6E14-42ED-B00A-9AD14B97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29100"/>
            <a:ext cx="4133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可用于资源包封面、图文解析、PPT 草稿，让复杂概念更容易被理解。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CC334-615C-496D-9D0B-8D9FF621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AI Study Assistant · 个性化资源生成与学习多智能体系统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996337-044C-4E14-A01D-0D2531BC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310761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3D4710-A6BF-4D4D-BA94-50812485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中国软件杯 A3 赛道 · AI Study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4F312-06A3-42A0-BFB1-AC5834BE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首页卡片承接生成后的下一步学习行动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5E231-D4EF-403B-9D38-434A59C4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FB196-4E01-4935-BED1-F35DF900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121539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6F5EA-C69E-46AB-AC7A-9911B04F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98679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画像 + 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D34C5-9A6F-4E03-B48B-ED5F747F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24669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D4B13-ADB4-40A3-BBB7-BB1E93C1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240" y="2076450"/>
            <a:ext cx="121539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3BF01-54EE-4F30-825F-BBFB8F0F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540" y="2247900"/>
            <a:ext cx="98679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资源包历史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B2072-5146-43A0-BA62-0E80F3EC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155" y="24669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4E6B8-47A7-456E-A648-79F56F13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80" y="2076450"/>
            <a:ext cx="121539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3249E-4601-4A16-801B-4A5EA058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380" y="2247900"/>
            <a:ext cx="98679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个性化学习路径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BC92CF-74EB-403D-9E13-118E2DAE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24669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34861-2B78-4B9F-98B7-CA4C9634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076450"/>
            <a:ext cx="121539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3D236-D24D-400E-86D4-EE873B22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0" y="2247900"/>
            <a:ext cx="98679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首页推荐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01CC1-3869-49C3-945B-40D08B69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835" y="24669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5AAD5-D782-4FDB-A1DC-074A8864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2076450"/>
            <a:ext cx="121539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2B1C0-9E68-405F-BBED-ADAF1AB3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60" y="2247900"/>
            <a:ext cx="98679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继续问答</a:t>
            </a:r>
          </a:p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计划 / 复盘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DF580-110A-49BE-AA0F-88FECE12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28575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EF25D9-C259-46D1-9FE3-1D4C72C1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24050"/>
            <a:ext cx="2514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7382D-54FD-492C-9EA5-E3DDD12B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050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截图 S1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33480-1A34-4E46-94AA-D707393C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首页卡片 / 推荐入口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6E4180-DC6D-4AFF-BC80-C9FE0F4A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76650"/>
            <a:ext cx="28575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B28429-9A7E-47CB-B2C2-47A52232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48100"/>
            <a:ext cx="2514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82061A-04DC-44C1-8810-A7446621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291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截图 S13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720F45-A03A-4351-B174-68ECF930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720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学习计划页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AAFB30-B727-464C-A3FC-AB42FD5C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首页不只是展示数据，而是把资料、资源工坊、AI 问答、学习计划和错题复盘串成行动入口。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1A243C-F704-4F1C-B1E7-BB665101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AI Study Assistant · 个性化资源生成与学习多智能体系统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FA4AC8-61C7-49A3-B9E3-686D9F88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817251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898073-4AD0-4EA2-BD21-50644A32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中国软件杯 A3 赛道 · AI Study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58CB8-BE0E-43A6-BAEB-F715A5B5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练习、判分和错题本形成学习效果闭环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43BF3-FDBD-464A-86F9-CEAF5C08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147B6-E2D6-41AA-BF45-9D2B7515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23444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7F348-AF5F-459A-AA15-852FB842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100584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资源包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CD8B3-2B76-4C6E-BE8D-6A15D437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465" y="24479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D2FDF-5907-4766-89EC-94DDCFBB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390" y="2076450"/>
            <a:ext cx="123444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0DF67-2018-408D-B9B1-45E778FA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690" y="2247900"/>
            <a:ext cx="100584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练习题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5BAC1-4435-4532-A876-18EE1D27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355" y="24479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EAA8E-7DBB-4AA2-AE01-5ADA292C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80" y="2076450"/>
            <a:ext cx="123444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5211A-5006-4B47-9BD9-CB632682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580" y="2247900"/>
            <a:ext cx="100584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作答判分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7ED4A-D1B2-4DE6-A82D-CF8EEEFE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245" y="24479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5D196C-6F2D-48C2-AAAB-4964E3A3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076450"/>
            <a:ext cx="123444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098C9-D0D1-48CC-AF97-D9D82EA2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2247900"/>
            <a:ext cx="100584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错题沉淀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ACF48-36FE-4731-A6A7-C103CA28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4135" y="24479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7280"/>
                </a:solidFill>
              </a:defRPr>
            </a:pPr>
            <a:r>
              <a:rPr sz="165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E9C2C-ECB9-4484-980F-49C56B00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60" y="2076450"/>
            <a:ext cx="123444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82996-F6AC-4496-9C1E-9D6B0CFA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360" y="2247900"/>
            <a:ext cx="100584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复习建议</a:t>
            </a:r>
          </a:p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计划调整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A47C8A-CE26-4DBA-B8B6-81C66EEE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409575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7F9DBA-06B3-4A3A-9AAA-8FF7D445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9550"/>
            <a:ext cx="3752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20F3F-EF85-47E2-A05F-FEA3F011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344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截图 S11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B0C2C1-AB89-43D6-93E5-71AF19AC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482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题库 / AI 自动出题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94142D-CEE0-4DB7-B72D-19B07DCD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48100"/>
            <a:ext cx="409575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841C60-49A9-4F8A-80A6-E69FD7D2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19550"/>
            <a:ext cx="3752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157872-3C7A-42ED-BEDF-2A06A21B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05300"/>
            <a:ext cx="344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截图 S12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B344D7-5276-417F-BE67-7090E109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482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错题本 / 复盘依据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9B749A-5F17-4457-9C00-AAE558D1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721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EvaluationAgent 作为后续升级方向；当前项目已有错题与行为数据基础。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71DF38-21D3-4DAA-9105-A38EFF1D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AI Study Assistant · 个性化资源生成与学习多智能体系统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6F9D68-1BF4-4A63-8308-C9D2402F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042427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392F48-839A-45EC-9D41-5CB2BFB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中国软件杯 A3 赛道 · AI Study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9D1CF-B19D-462B-9B56-3DF02A5E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工程架构采用前后端分离与 Provider 解耦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D5B2C-E5E8-419B-B149-C3E0C2E8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5B50B-03F7-4679-90A9-EC925854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76400"/>
            <a:ext cx="8991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44442-36C9-4360-86B0-394760A7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90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Frontend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2157A-22EE-4554-8F91-07DC7E04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02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Vue3 · Element Plus · Pinia · Router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84BBC-089A-4B01-A46B-4AACB8DE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24100"/>
            <a:ext cx="8991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B8AF9-D646-4405-AC34-10F8D528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3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API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A8492-1D36-41F0-A640-1DBB59BF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479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Axios · JWT · RESTful Result&lt;T&gt;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8F0C6-FF22-4DA3-A9A8-7277BB3A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71800"/>
            <a:ext cx="8991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97EA6-9BFB-4381-B847-BBFCAECA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86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Backend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1B6BB-718C-4AFA-AF45-F43CC9E3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956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Spring Boot 3.5 · Security · MyBatis-Plus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C22C8-FB83-4DA4-9FE5-FBB4D49F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19500"/>
            <a:ext cx="8991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0E6FF-EF69-4DBD-BC0B-41CF1E53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33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AI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60E2C8-C7AA-4CDD-9206-64A38DC2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433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Spring AI ChatClient · Agent Pipeline · RAG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012EA-9764-4E5F-9193-87F783D6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67200"/>
            <a:ext cx="8991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DE7EA-56F1-49CB-9BD8-C096B92E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381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Provider 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47DC87-E289-486D-A63B-1364A4C9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910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Spark Lite · DashScope Embedding · Xfyun TTS/TTI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52CB1-72D0-4178-9346-BE0AAF42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14900"/>
            <a:ext cx="8991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2BF51C-4E2D-4021-A6B8-517547C6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29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Data &amp; Asset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50EAC5-912D-45FE-A348-971444DF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387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PostgreSQL 16 · pgvector · File Storage · ResourceAsset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1FCB1B-5DC7-42F5-B9B2-DE1931D8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AI Study Assistant · 个性化资源生成与学习多智能体系统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DA4007-B890-448A-B8E7-855652C6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464024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52E4BC-6E78-4C51-9DF7-226CAE85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中国软件杯 A3 赛道 · AI Study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53905-4DF4-44E2-9FBC-E550821A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系统不只会生成，还考虑安全、追踪和恢复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B151F-B855-4A7E-8401-E5FF128F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87252-F1BF-48F8-B9B6-D4A5C277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3143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F1B6F-E9DE-421B-95E1-A8A676CA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模型幻觉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AEF68-7941-42DE-9FA0-2948F05E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RAG 约束 + SafetyAgent 校验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9C1C2-26E7-4A3F-B8BE-16AC2E8E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3143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01C1E-0C79-49CC-A790-FB09E853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002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内容违规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F54C2-3DC0-49F0-8B7B-FD668786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812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Prompt 约束 + 错误映射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F1090-BD0F-48C0-8724-2C4EF09F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3143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D77F2-F5B8-41C8-8D54-40818085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多模态失败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55B3C-B8D6-40F1-BB64-ABDD5F15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资产状态机 + 重试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434C8-8E37-4471-AEE9-EC10E9A3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143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56418-0EA0-4F2C-B6B4-92F57D54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长任务等待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DEE1E-0C38-4A29-980F-3C9228AF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异步任务 + Agent Timeline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3A878-F592-4838-ABF9-86E44D32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43300"/>
            <a:ext cx="3143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8EBBE-C9CC-4942-A1AA-CD9DF06F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528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密钥泄露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F60862-13B1-4E25-B8DA-A6EB0CBB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338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后端 Provider 调用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9DD654-A5E1-4B98-9385-92CC7197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43300"/>
            <a:ext cx="3143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450CEB-3AE3-4B0E-B85A-A9A5B0F7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文件风险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C39D1E-A5FA-46B0-9D0C-706568EE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338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类型校验 + 下载鉴权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43297B-1F76-435C-9486-43DD1CE2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95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关键词：可追踪、可恢复、密钥不下发、失败不拖垮主资源包。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717E91-FDCE-4172-80B7-91F92EA8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AI Study Assistant · 个性化资源生成与学习多智能体系统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C26FA5-E09E-456B-BB4D-2A0258E5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253100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5467BA-BC83-4041-AC4F-05BBF0A6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中国软件杯 A3 赛道 · AI Study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BD2BE-3708-490E-BD0F-254A008F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四个创新点直接对应 A3 评分重点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7DE8A-33AC-4DEA-8A82-B3EE4089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0454C-CDAB-47C7-9E3B-6EA920B6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44767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5958D-AE9E-4898-BCEB-FFB222D7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8120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DCBCF-9519-40AC-81A5-11225ED8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383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创新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9D98F-DDC5-47A2-8612-64A01B5C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622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渐进式多 Agent 改造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F5AD2-F1C5-4448-9A6C-907929CF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241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保留稳定 Service，用 Orchestrator + Specialist Agents 实现协同。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3AB1B-AD4D-4C28-A78E-D91DBDE2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4767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D5333-B0F5-41D5-99BD-32F0CFAC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F9687-CA9C-4CCD-BB9F-405056C5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383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创新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69406-4CB3-4ACA-95C6-A26B3879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622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个性化资源包生成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E994D1-A6AF-461D-8DE3-673FC2F2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1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一次交付文档、导图、题库、路径和多模态资源。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64563-294D-4A26-A338-8D59BAF0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44767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A9F38-B603-43FD-9BD6-EE8519CB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9095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F0364-877E-4C1C-BDFC-E760D88C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48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创新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941A8-1E7A-49C9-B984-FDBAABD1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719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讯飞多模态增强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4115D-9F42-4359-BF31-7D990B93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339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TTS 与文生图把资源扩展为可听、可看的学习资产。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339030-CA09-44A5-BF27-43A6C27C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44767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5D124C-C0AC-4756-A59C-8AB291C1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9095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3E0DB1-D9E9-41AC-9D31-1F2363FF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48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创新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0FFC0-C425-40D4-9B78-D03AA398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学习闭环设计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6BFD7E-1607-4219-8968-D1AD498E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339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资料、问答、出题、计划、错题和推荐形成连续学习链路。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3404B-0334-42C2-B387-F1D47276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AI Study Assistant · 个性化资源生成与学习多智能体系统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3B2B4F-7929-445D-935B-F903AD34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167249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1E8DC3-AF9D-4738-9C54-56A4E64F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中国软件杯 A3 赛道 · AI Study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386CA-32B3-4743-905C-9CE5E380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当前版本已从 Demo 走向可运行系统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E0CBF-4253-4B5C-9DF2-A43662E8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55A11-96ED-4D93-B127-B1EB6454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4E512-087D-4D87-8432-F2F72342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812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前端构建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45BD8-D8AF-462D-A86B-7CF9D7FD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通过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6545F-DEAA-4A8D-91FC-57119C50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7165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C6F4D-8B69-4077-8198-A4483D53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812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资源工坊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69024-9EAB-490A-8F67-A5642D5E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可演示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0D529-18C1-4484-B9B1-990A35ED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7165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8A03A-A487-4331-BDB1-32F3BA5B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Agent Trace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B08DD-B79A-4FAC-9C9F-CED360F5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已接入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98A0F-BC26-48CD-BADE-89B30C7C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A1D36-EE4A-4FD2-91BC-8985105E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TTS / 文生图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DCE96C-6817-45B5-9927-D8171FC3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Provider 接入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D81BD-ABE4-4F61-855B-74690E96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2420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6212D4-C417-47DD-89EA-FA967757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337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配置分层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1A443-BAAD-46EE-B184-DB86EB00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1475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dev/test/prod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2FEEB6-8F78-46C6-81D2-9A804B15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53913C-5ACC-4F33-90BB-AC5A1972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资产闭环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BB48BE-9D1E-424E-ABAC-849E61B9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播放/预览/下载/重试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5B063E-04F9-4BEE-A3C0-BF5CD620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628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06BF83-F650-4A00-80B7-8AEC4E0A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5943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CA8832-B970-4EB0-A94C-6A51219F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24425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截图 S14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FAF1BF-BA29-4431-A889-FDC78E2E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67325"/>
            <a:ext cx="548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Maven / 前端构建 / 测试通过截图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89324E-44C7-4C79-9818-A883C2CE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AI Study Assistant · 个性化资源生成与学习多智能体系统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D5E7BA-EB9B-44FE-9F01-8A2D2140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768078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2F2860-464C-4041-A0CE-68B776D3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中国软件杯 A3 赛道 · AI Study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845C1-7729-4F2D-B2F3-C8182E31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7 分钟演示路线让评委看到完整闭环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8CCEF-0633-4550-9991-6199BBED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11B44-E99C-4B40-84EA-E01ED362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2192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C1E3D-5F0C-442A-8E78-37FA23B9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F9715-2074-43D4-90F9-39DA2AC9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首页入口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E5B1D-95E5-4420-BA9A-3161A582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08F01-1205-4B8E-BE2B-75BCACAE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95500"/>
            <a:ext cx="12192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83F21-5C73-42A3-BE0B-278EA81D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098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DC534-E7FA-4CCB-A826-EF3D06CF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955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选择资料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09D6D-C85C-440A-AF21-24D08B19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72C12-A927-4B45-BA84-53D5822C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95500"/>
            <a:ext cx="12192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14330-B578-4EAF-859E-4144A419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098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ABE2D-258D-4B2A-BF63-7A92109C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955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资源工坊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1F7C7-765F-43CE-8989-A39219ED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8646D-2F3B-4EC4-B944-0F66B255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12192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718BD2-BBFE-446C-B83D-D8B8E754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098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2DE4C8-1EC8-4747-800C-6DB47570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955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Agent 进度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E2EB06-42EC-4549-B8FB-69F42EF3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8088D-49BD-4900-B582-BA0F63FE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12192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720796-ACF1-4FB7-ADF9-12E904E9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098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401318-E224-4BC5-8F9E-C827FAF6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955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资源包结果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401C07-6978-49BD-B790-60B014E0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EFB851-CEBA-42C4-9CBE-BA29065E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12192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0D52F7-80EB-4E83-9666-0A8108D2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098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0836D7-1B4E-4B6D-AE46-582845EF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955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音频/配图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06AAFD-FC71-40E2-BB51-7F0E5CDE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D5D391-303F-4ACF-B44D-884D4CDE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95500"/>
            <a:ext cx="12192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44367C-BD9E-41D2-9260-96D092A9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098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8E3D34-773F-47CB-BE55-39815AE8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955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问答或错题复盘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881A70-0C9A-40E8-9DC3-33B015BF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90950"/>
            <a:ext cx="88392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A72F4C-BD58-4315-B69F-3A3C2784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62400"/>
            <a:ext cx="8496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EEDE54-D9FC-4E52-B378-A515DD01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100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截图缩略图组合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CA3664-3699-444F-9BF0-5ED2BF48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52950"/>
            <a:ext cx="803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S1 / S5 / S6 / S7 / S9 / S10 / S4 或 S12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6D2FEC-3B3F-4136-9A14-7DB87E6B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911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建议录屏顺序：先证明首页入口有效，再展示资源生成，最后回到学习闭环。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D6CF8E-EFD5-46E6-993F-42C9F980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AI Study Assistant · 个性化资源生成与学习多智能体系统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89FA0F-F398-4487-8865-B110B6A6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22367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E4CE4-4C92-42E2-A1F7-5F971634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中国软件杯 A3 赛道 · AI Study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B9C56-24DF-4FFD-BA6B-42DE9D40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让每个学生拥有自己的课程资源生产线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AF43A-DFF9-4352-BB5B-EFBB8EE8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0F07E-CCBE-4BFE-B84B-43E8F9B6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497205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7E9BD-6BF5-475D-A388-C51A622E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8120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6B65A-404E-46D7-B90B-C82FAE93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383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1F946-5BD1-4C6F-9A14-43F81F3F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6220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当前价值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55F52-99AC-4657-A676-309A09C4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4514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以课程资料和学习画像为输入，生成个性化、多类型、多模态学习资源；通过多 Agent 协同把总结、出题、路径、多模态和安全校验组织成可追踪流水线。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B4DFD-37E7-4C9D-A633-3C7927BB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497205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55CAA-1EE9-4107-9093-5D5EE2A2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8120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2848A-CE44-4C44-9B10-7570CE5C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07C67-181A-4A20-9C09-901F55BB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6220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未来扩展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188DA-07DE-40D6-AA37-07F77FA7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4514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进一步增强 EvaluationAgent、RecommendationAgent、教育大模型适配、文件夹级课程资源包、智能 PPT 与虚拟人讲解等能力。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DEF232-70D2-472C-87D0-FFE04AE7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95850"/>
            <a:ext cx="948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AI Study Assistant：从回答问题，到生成适合每个学生的学习资源体系。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9D941F-FC24-4328-939F-B64107E3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AI Study Assistant · 个性化资源生成与学习多智能体系统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154CE-0E14-4155-A37C-64ACB59F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207400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2026-07-18T11:25:13.8040000Z</dcterms:created>
  <dcterms:modified xsi:type="dcterms:W3CDTF">2026-07-18T11:25:13.8040000Z</dcterms:modified>
</coreProperties>
</file>